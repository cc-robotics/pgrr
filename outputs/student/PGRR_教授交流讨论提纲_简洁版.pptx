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1a5707d02a45ea" /><Relationship Type="http://schemas.openxmlformats.org/officeDocument/2006/relationships/extended-properties" Target="/docProps/app.xml" Id="Rf6f7b75c308f4e09" /><Relationship Type="http://schemas.openxmlformats.org/officeDocument/2006/relationships/officeDocument" Target="/ppt/presentation.xml" Id="Rce1bf90070854f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bc0dd6852b4535"/>
  </p:sldMasterIdLst>
  <p:notesMasterIdLst>
    <p:notesMasterId xmlns:r="http://schemas.openxmlformats.org/officeDocument/2006/relationships" r:id="R847c91a1478241f5"/>
  </p:notesMasterIdLst>
  <p:sldIdLst>
    <p:sldId xmlns:r="http://schemas.openxmlformats.org/officeDocument/2006/relationships" id="256" r:id="Raf98bd7eeffa45e1"/>
    <p:sldId xmlns:r="http://schemas.openxmlformats.org/officeDocument/2006/relationships" id="257" r:id="R95920e1f2082405c"/>
    <p:sldId xmlns:r="http://schemas.openxmlformats.org/officeDocument/2006/relationships" id="258" r:id="Rc5adc0b057c64f0a"/>
    <p:sldId xmlns:r="http://schemas.openxmlformats.org/officeDocument/2006/relationships" id="259" r:id="R31a00b880e5f41eb"/>
    <p:sldId xmlns:r="http://schemas.openxmlformats.org/officeDocument/2006/relationships" id="260" r:id="Rb7fc5bdd71854d42"/>
    <p:sldId xmlns:r="http://schemas.openxmlformats.org/officeDocument/2006/relationships" id="261" r:id="Rb2007f05a4bf4caf"/>
    <p:sldId xmlns:r="http://schemas.openxmlformats.org/officeDocument/2006/relationships" id="262" r:id="Rf1a2bc5d68604bcc"/>
    <p:sldId xmlns:r="http://schemas.openxmlformats.org/officeDocument/2006/relationships" id="263" r:id="R59b0d0c90edc4ba6"/>
    <p:sldId xmlns:r="http://schemas.openxmlformats.org/officeDocument/2006/relationships" id="264" r:id="Rd183de6912964b90"/>
    <p:sldId xmlns:r="http://schemas.openxmlformats.org/officeDocument/2006/relationships" id="265" r:id="Rdc5e6c750daf4e7a"/>
    <p:sldId xmlns:r="http://schemas.openxmlformats.org/officeDocument/2006/relationships" id="266" r:id="Ra0b06695fc1b4ae0"/>
    <p:sldId xmlns:r="http://schemas.openxmlformats.org/officeDocument/2006/relationships" id="267" r:id="R2c21ef6d9be046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2d581581b94531" /><Relationship Type="http://schemas.openxmlformats.org/officeDocument/2006/relationships/slideMaster" Target="/ppt/slideMasters/slideMaster1.xml" Id="R2fbc0dd6852b4535" /><Relationship Type="http://schemas.openxmlformats.org/officeDocument/2006/relationships/notesMaster" Target="/ppt/notesMasters/notesMaster1.xml" Id="R847c91a1478241f5" /><Relationship Type="http://schemas.openxmlformats.org/officeDocument/2006/relationships/presProps" Target="/ppt/presProps.xml" Id="Rd669ebead3ff4175" /><Relationship Type="http://schemas.openxmlformats.org/officeDocument/2006/relationships/tableStyles" Target="/ppt/tableStyles.xml" Id="R3c28df41b81f40f6" /><Relationship Type="http://schemas.openxmlformats.org/officeDocument/2006/relationships/slide" Target="/ppt/slides/slide1.xml" Id="Raf98bd7eeffa45e1" /><Relationship Type="http://schemas.openxmlformats.org/officeDocument/2006/relationships/slide" Target="/ppt/slides/slide2.xml" Id="R95920e1f2082405c" /><Relationship Type="http://schemas.openxmlformats.org/officeDocument/2006/relationships/slide" Target="/ppt/slides/slide3.xml" Id="Rc5adc0b057c64f0a" /><Relationship Type="http://schemas.openxmlformats.org/officeDocument/2006/relationships/slide" Target="/ppt/slides/slide4.xml" Id="R31a00b880e5f41eb" /><Relationship Type="http://schemas.openxmlformats.org/officeDocument/2006/relationships/slide" Target="/ppt/slides/slide5.xml" Id="Rb7fc5bdd71854d42" /><Relationship Type="http://schemas.openxmlformats.org/officeDocument/2006/relationships/slide" Target="/ppt/slides/slide6.xml" Id="Rb2007f05a4bf4caf" /><Relationship Type="http://schemas.openxmlformats.org/officeDocument/2006/relationships/slide" Target="/ppt/slides/slide7.xml" Id="Rf1a2bc5d68604bcc" /><Relationship Type="http://schemas.openxmlformats.org/officeDocument/2006/relationships/slide" Target="/ppt/slides/slide8.xml" Id="R59b0d0c90edc4ba6" /><Relationship Type="http://schemas.openxmlformats.org/officeDocument/2006/relationships/slide" Target="/ppt/slides/slide9.xml" Id="Rd183de6912964b90" /><Relationship Type="http://schemas.openxmlformats.org/officeDocument/2006/relationships/slide" Target="/ppt/slides/slide10.xml" Id="Rdc5e6c750daf4e7a" /><Relationship Type="http://schemas.openxmlformats.org/officeDocument/2006/relationships/slide" Target="/ppt/slides/slide11.xml" Id="Ra0b06695fc1b4ae0" /><Relationship Type="http://schemas.openxmlformats.org/officeDocument/2006/relationships/slide" Target="/ppt/slides/slide12.xml" Id="R2c21ef6d9be046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3f0726c25243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ab02ebbd524cd9" /><Relationship Type="http://schemas.openxmlformats.org/officeDocument/2006/relationships/notesMaster" Target="/ppt/notesMasters/notesMaster1.xml" Id="Rf2664cca460146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89e905e2f448fe" /><Relationship Type="http://schemas.openxmlformats.org/officeDocument/2006/relationships/notesMaster" Target="/ppt/notesMasters/notesMaster1.xml" Id="R530d6407bf754e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2c06e24cea4cd2" /><Relationship Type="http://schemas.openxmlformats.org/officeDocument/2006/relationships/notesMaster" Target="/ppt/notesMasters/notesMaster1.xml" Id="R12cdbe54414a40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606452ae9047fb" /><Relationship Type="http://schemas.openxmlformats.org/officeDocument/2006/relationships/notesMaster" Target="/ppt/notesMasters/notesMaster1.xml" Id="R7734219806184b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098b27b4974459" /><Relationship Type="http://schemas.openxmlformats.org/officeDocument/2006/relationships/notesMaster" Target="/ppt/notesMasters/notesMaster1.xml" Id="R70241bbf1bb749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3551644ae34ab7" /><Relationship Type="http://schemas.openxmlformats.org/officeDocument/2006/relationships/notesMaster" Target="/ppt/notesMasters/notesMaster1.xml" Id="R17a7b54f884e40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6f8c878be848ed" /><Relationship Type="http://schemas.openxmlformats.org/officeDocument/2006/relationships/notesMaster" Target="/ppt/notesMasters/notesMaster1.xml" Id="R3d18d03c220944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6c6aca613744e7" /><Relationship Type="http://schemas.openxmlformats.org/officeDocument/2006/relationships/notesMaster" Target="/ppt/notesMasters/notesMaster1.xml" Id="R65c8820571674a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2ea6734fe640e9" /><Relationship Type="http://schemas.openxmlformats.org/officeDocument/2006/relationships/notesMaster" Target="/ppt/notesMasters/notesMaster1.xml" Id="Rdcb28b64255443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a9b3baa27948e2" /><Relationship Type="http://schemas.openxmlformats.org/officeDocument/2006/relationships/notesMaster" Target="/ppt/notesMasters/notesMaster1.xml" Id="Rbc057cff58f347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24783aa5a44147" /><Relationship Type="http://schemas.openxmlformats.org/officeDocument/2006/relationships/notesMaster" Target="/ppt/notesMasters/notesMaster1.xml" Id="Rf87c664e97f646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5ee727c4ee4a87" /><Relationship Type="http://schemas.openxmlformats.org/officeDocument/2006/relationships/notesMaster" Target="/ppt/notesMasters/notesMaster1.xml" Id="R8bda04fe4bfc4b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6ff9ca48a945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3742b99ace425f" /><Relationship Type="http://schemas.openxmlformats.org/officeDocument/2006/relationships/slideLayout" Target="/ppt/slideLayouts/slideLayout1.xml" Id="R6a469a47907948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469a47907948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b9b19a62b45c2" /><Relationship Type="http://schemas.openxmlformats.org/officeDocument/2006/relationships/notesSlide" Target="/ppt/notesSlides/notesSlide1.xml" Id="R484bfa313f5e42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c01e8f36544c6" /><Relationship Type="http://schemas.openxmlformats.org/officeDocument/2006/relationships/notesSlide" Target="/ppt/notesSlides/notesSlide2.xml" Id="Ra17cb275f15340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f47ffddb2439a" /><Relationship Type="http://schemas.openxmlformats.org/officeDocument/2006/relationships/notesSlide" Target="/ppt/notesSlides/notesSlide3.xml" Id="Rfafa3f4478234a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9270dc71441c7" /><Relationship Type="http://schemas.openxmlformats.org/officeDocument/2006/relationships/notesSlide" Target="/ppt/notesSlides/notesSlide4.xml" Id="R1a8e11b4721d45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460a1cf784fff" /><Relationship Type="http://schemas.openxmlformats.org/officeDocument/2006/relationships/notesSlide" Target="/ppt/notesSlides/notesSlide5.xml" Id="R5b2204fed00a43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bae41f37443b1" /><Relationship Type="http://schemas.openxmlformats.org/officeDocument/2006/relationships/notesSlide" Target="/ppt/notesSlides/notesSlide6.xml" Id="R3b97039e3f0e40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d200af31d4844" /><Relationship Type="http://schemas.openxmlformats.org/officeDocument/2006/relationships/notesSlide" Target="/ppt/notesSlides/notesSlide7.xml" Id="R9133fba03d384d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6bd8c4a47419d" /><Relationship Type="http://schemas.openxmlformats.org/officeDocument/2006/relationships/notesSlide" Target="/ppt/notesSlides/notesSlide8.xml" Id="R7ef5635192bf4d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f2270eb004b2b" /><Relationship Type="http://schemas.openxmlformats.org/officeDocument/2006/relationships/notesSlide" Target="/ppt/notesSlides/notesSlide9.xml" Id="R62c2dc2743224c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43b1c66d84e40" /><Relationship Type="http://schemas.openxmlformats.org/officeDocument/2006/relationships/notesSlide" Target="/ppt/notesSlides/notesSlide10.xml" Id="Rd041c0acfbb84e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4c4cd9ba342de" /><Relationship Type="http://schemas.openxmlformats.org/officeDocument/2006/relationships/notesSlide" Target="/ppt/notesSlides/notesSlide11.xml" Id="R9eed978b7c904c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3581889764017" /><Relationship Type="http://schemas.openxmlformats.org/officeDocument/2006/relationships/notesSlide" Target="/ppt/notesSlides/notesSlide12.xml" Id="Rf6ae91e8388e4a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01516-223C-4E1B-BD04-F8E3829E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2355B"/>
                </a:solidFill>
              </a:defRPr>
            </a:pPr>
            <a:r>
              <a:rPr sz="3900" b="1">
                <a:solidFill>
                  <a:srgbClr val="12355B"/>
                </a:solidFill>
              </a:rPr>
              <a:t>PGRR 项目复现进展</a:t>
            </a:r>
          </a:p>
          <a:p xmlns:a="http://schemas.openxmlformats.org/drawingml/2006/main">
            <a:pPr algn="l">
              <a:defRPr sz="3900" b="1">
                <a:solidFill>
                  <a:srgbClr val="12355B"/>
                </a:solidFill>
              </a:defRPr>
            </a:pPr>
            <a:r>
              <a:rPr sz="3900" b="1">
                <a:solidFill>
                  <a:srgbClr val="12355B"/>
                </a:solidFill>
              </a:rPr>
              <a:t>与后续实验讨论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DDA1A-3433-4637-98AC-EEA5838D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579"/>
                </a:solidFill>
              </a:defRPr>
            </a:pPr>
            <a:r>
              <a:rPr sz="1800" b="0">
                <a:solidFill>
                  <a:srgbClr val="536579"/>
                </a:solidFill>
              </a:rPr>
              <a:t>面向教授交流的工作汇报与决策问题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A49D7-4EE4-4AD6-BB0C-353D037B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71131-4EBB-4D35-970D-831F361C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简洁讨论版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9CE7B-3438-468C-9257-F96B2B04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38250"/>
            <a:ext cx="2381250" cy="3333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BDB5F-F9FF-4350-BD8F-0C8BD7C8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PGRR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CDA9E-186F-4E65-821C-4FF1C3B4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1771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CEBF5"/>
                </a:solidFill>
              </a:defRPr>
            </a:pPr>
            <a:r>
              <a:rPr sz="1500" b="0">
                <a:solidFill>
                  <a:srgbClr val="DCEBF5"/>
                </a:solidFill>
              </a:rPr>
              <a:t>Planning-Guided</a:t>
            </a:r>
          </a:p>
          <a:p xmlns:a="http://schemas.openxmlformats.org/drawingml/2006/main">
            <a:pPr algn="ctr">
              <a:defRPr sz="1500" b="0">
                <a:solidFill>
                  <a:srgbClr val="DCEBF5"/>
                </a:solidFill>
              </a:defRPr>
            </a:pPr>
            <a:r>
              <a:rPr sz="1500" b="0">
                <a:solidFill>
                  <a:srgbClr val="DCEBF5"/>
                </a:solidFill>
              </a:rPr>
              <a:t>Failure-Triggered</a:t>
            </a:r>
          </a:p>
          <a:p xmlns:a="http://schemas.openxmlformats.org/drawingml/2006/main">
            <a:pPr algn="ctr">
              <a:defRPr sz="1500" b="0">
                <a:solidFill>
                  <a:srgbClr val="DCEBF5"/>
                </a:solidFill>
              </a:defRPr>
            </a:pPr>
            <a:r>
              <a:rPr sz="1500" b="0">
                <a:solidFill>
                  <a:srgbClr val="DCEBF5"/>
                </a:solidFill>
              </a:rPr>
              <a:t>Recovery &amp; Rejoin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68F68-FFD9-4CED-A1CD-400457F1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</a:defRPr>
            </a:pPr>
            <a:r>
              <a:rPr sz="1275" b="0">
                <a:solidFill>
                  <a:srgbClr val="536579"/>
                </a:solidFill>
              </a:rPr>
              <a:t>汇报人：__________    日期：__________</a:t>
            </a:r>
          </a:p>
        </p:txBody>
      </p:sp>
    </p:spTree>
    <p:extLst>
      <p:ext uri="{BB962C8B-B14F-4D97-AF65-F5344CB8AC3E}">
        <p14:creationId xmlns:p14="http://schemas.microsoft.com/office/powerpoint/2010/main" val="2437059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99565C-6D4C-4627-8AA1-E2D9CAA0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8D"/>
                </a:solidFill>
              </a:defRPr>
            </a:pPr>
            <a:r>
              <a:rPr sz="1050" b="1">
                <a:solidFill>
                  <a:srgbClr val="0F8B8D"/>
                </a:solidFill>
              </a:rPr>
              <a:t>PGRR · 研究交流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56E30-66A7-4B62-A67F-6E93F9F6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希望本次交流明确的四个决策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17634-DA17-4BA5-9180-2B63FAF5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BE9AF-521B-4FDB-91C1-365CD612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9"/>
                </a:solidFill>
              </a:defRPr>
            </a:pPr>
            <a:r>
              <a:rPr sz="975" b="1">
                <a:solidFill>
                  <a:srgbClr val="53657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B3C88-3FCA-4A8C-A666-9F37D63E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953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BAA9A-FCAB-4761-920F-99DBD51D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8B8D"/>
                </a:solidFill>
              </a:defRPr>
            </a:pPr>
            <a:r>
              <a:rPr sz="2250" b="1">
                <a:solidFill>
                  <a:srgbClr val="0F8B8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2CC4B-E7C7-437C-B0EC-36F3B804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716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55B"/>
                </a:solidFill>
              </a:defRPr>
            </a:pPr>
            <a:r>
              <a:rPr sz="1875" b="1">
                <a:solidFill>
                  <a:srgbClr val="12355B"/>
                </a:solidFill>
              </a:rPr>
              <a:t>新场景的研究问题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36704-32E9-48BC-8EB3-75A1D5EC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00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新环境应验证哪一种困难交互？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5DC02-70B6-46A6-ADC2-1460FA14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4953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48FD4-F027-4E11-8CBF-C1791A3E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8B8D"/>
                </a:solidFill>
              </a:defRPr>
            </a:pPr>
            <a:r>
              <a:rPr sz="2250" b="1">
                <a:solidFill>
                  <a:srgbClr val="0F8B8D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BF45D-A47E-424F-A691-7BEEE76D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716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55B"/>
                </a:solidFill>
              </a:defRPr>
            </a:pPr>
            <a:r>
              <a:rPr sz="1875" b="1">
                <a:solidFill>
                  <a:srgbClr val="12355B"/>
                </a:solidFill>
              </a:rPr>
              <a:t>公平对照与数据划分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3AF23-3FDF-4A77-BD0B-6CBECB8B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00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如何扩展而不触碰冻结测试集？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E6309-2D26-4556-8526-EC34B19B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4953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0BE81-8455-449A-B6D4-8A654600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8B8D"/>
                </a:solidFill>
              </a:defRPr>
            </a:pPr>
            <a:r>
              <a:rPr sz="2250" b="1">
                <a:solidFill>
                  <a:srgbClr val="0F8B8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D3648-0B3F-45D6-B87B-9694D302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814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55B"/>
                </a:solidFill>
              </a:defRPr>
            </a:pPr>
            <a:r>
              <a:rPr sz="1875" b="1">
                <a:solidFill>
                  <a:srgbClr val="12355B"/>
                </a:solidFill>
              </a:rPr>
              <a:t>DAgger 诊断路径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5EBE2-6442-4FCA-BB2A-A975DBA4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100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后续候选变差应先查什么？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1C5C7-6732-4875-82B7-FCB7B944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24250"/>
            <a:ext cx="4953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56496-303E-4A71-B26C-38A09723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71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8B8D"/>
                </a:solidFill>
              </a:defRPr>
            </a:pPr>
            <a:r>
              <a:rPr sz="2250" b="1">
                <a:solidFill>
                  <a:srgbClr val="0F8B8D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1267C-FA41-44DB-B7BC-69763D6B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814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55B"/>
                </a:solidFill>
              </a:defRPr>
            </a:pPr>
            <a:r>
              <a:rPr sz="1875" b="1">
                <a:solidFill>
                  <a:srgbClr val="12355B"/>
                </a:solidFill>
              </a:rPr>
              <a:t>重构最小边界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AA00C-8A7C-4358-95D5-9677F266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100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哪些模块先拆、哪些接口绝不动？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6105C9-8D02-44D9-952A-A8DBEDC4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目标不是重复跑一次，而是形成可解释、可写入论文的独立对照实验。</a:t>
            </a:r>
          </a:p>
        </p:txBody>
      </p:sp>
    </p:spTree>
    <p:extLst>
      <p:ext uri="{BB962C8B-B14F-4D97-AF65-F5344CB8AC3E}">
        <p14:creationId xmlns:p14="http://schemas.microsoft.com/office/powerpoint/2010/main" val="15624045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85B7F-1FAF-466D-A778-B4CFF50C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8D"/>
                </a:solidFill>
              </a:defRPr>
            </a:pPr>
            <a:r>
              <a:rPr sz="1050" b="1">
                <a:solidFill>
                  <a:srgbClr val="0F8B8D"/>
                </a:solidFill>
              </a:rPr>
              <a:t>PGRR · 研究交流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309AC-0F68-46D4-B3C6-9A8C26F9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我们已完成：环境、离线训练与在线恢复链路验证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89685-9B34-4011-9E57-4FE2D114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ECF74-CEF3-4B65-A30E-B4251AD6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9"/>
                </a:solidFill>
              </a:defRPr>
            </a:pPr>
            <a:r>
              <a:rPr sz="975" b="1">
                <a:solidFill>
                  <a:srgbClr val="53657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D62C6-0B85-4856-9437-53775273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433B2-5A95-4C2A-8042-F873BFBD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55B"/>
                </a:solidFill>
              </a:defRPr>
            </a:pPr>
            <a:r>
              <a:rPr sz="2025" b="1">
                <a:solidFill>
                  <a:srgbClr val="12355B"/>
                </a:solidFill>
              </a:rPr>
              <a:t>离线环境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4345F-3F28-4A61-97D9-FA6706B0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9"/>
                </a:solidFill>
              </a:defRPr>
            </a:pPr>
            <a:r>
              <a:rPr sz="1425" b="0">
                <a:solidFill>
                  <a:srgbClr val="536579"/>
                </a:solidFill>
              </a:rPr>
              <a:t>Python 3.10</a:t>
            </a:r>
          </a:p>
          <a:p xmlns:a="http://schemas.openxmlformats.org/drawingml/2006/main">
            <a:pPr algn="l">
              <a:defRPr sz="1425" b="0">
                <a:solidFill>
                  <a:srgbClr val="536579"/>
                </a:solidFill>
              </a:defRPr>
            </a:pPr>
            <a:r>
              <a:rPr sz="1425" b="0">
                <a:solidFill>
                  <a:srgbClr val="536579"/>
                </a:solidFill>
              </a:rPr>
              <a:t>动作空间、掩码、专家标签与 BC 测试通过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09815-6EC5-4BE8-A928-5A54E73A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A5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1F243-3359-40E5-B62D-635B6B8F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147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已验证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BE94F-A5F4-4EC1-8559-A8EE570F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859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3A5BD-6A35-4A99-8553-BA1B5DF7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98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55B"/>
                </a:solidFill>
              </a:defRPr>
            </a:pPr>
            <a:r>
              <a:rPr sz="2025" b="1">
                <a:solidFill>
                  <a:srgbClr val="12355B"/>
                </a:solidFill>
              </a:rPr>
              <a:t>在线环境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90421-B4C3-4D11-BCBE-0E5F3CC9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9"/>
                </a:solidFill>
              </a:defRPr>
            </a:pPr>
            <a:r>
              <a:rPr sz="1425" b="0">
                <a:solidFill>
                  <a:srgbClr val="536579"/>
                </a:solidFill>
              </a:rPr>
              <a:t>WSL2 · Ubuntu 22.04</a:t>
            </a:r>
          </a:p>
          <a:p xmlns:a="http://schemas.openxmlformats.org/drawingml/2006/main">
            <a:pPr algn="l">
              <a:defRPr sz="1425" b="0">
                <a:solidFill>
                  <a:srgbClr val="536579"/>
                </a:solidFill>
              </a:defRPr>
            </a:pPr>
            <a:r>
              <a:rPr sz="1425" b="0">
                <a:solidFill>
                  <a:srgbClr val="536579"/>
                </a:solidFill>
              </a:rPr>
              <a:t>ROS2 Humble · Arena · Docker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460E1-F167-40ED-9F01-EA0C1C93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57625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A5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45482-15C7-48FB-95DD-763D34A0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147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已验证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9D104-29B5-4C5A-8E12-82F2DD9F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859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AC446-A07F-41B3-9BC1-7A3D9DAB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55B"/>
                </a:solidFill>
              </a:defRPr>
            </a:pPr>
            <a:r>
              <a:rPr sz="2025" b="1">
                <a:solidFill>
                  <a:srgbClr val="12355B"/>
                </a:solidFill>
              </a:rPr>
              <a:t>构建与冒烟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6E13F-E56E-493E-8266-13543C3F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9"/>
                </a:solidFill>
              </a:defRPr>
            </a:pPr>
            <a:r>
              <a:rPr sz="1425" b="0">
                <a:solidFill>
                  <a:srgbClr val="536579"/>
                </a:solidFill>
              </a:rPr>
              <a:t>make arena / build / smoke 通过</a:t>
            </a:r>
          </a:p>
          <a:p xmlns:a="http://schemas.openxmlformats.org/drawingml/2006/main">
            <a:pPr algn="l">
              <a:defRPr sz="1425" b="0">
                <a:solidFill>
                  <a:srgbClr val="536579"/>
                </a:solidFill>
              </a:defRPr>
            </a:pPr>
            <a:r>
              <a:rPr sz="1425" b="0">
                <a:solidFill>
                  <a:srgbClr val="536579"/>
                </a:solidFill>
              </a:rPr>
              <a:t>恢复管理器 ROS 冒烟通过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F92E6-5755-435D-BDC3-719B0D85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A5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D0E0A-1483-4FE8-8FDB-96EC2F6A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147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已验证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141AE-1BC2-4A7F-848A-B48BDA04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913A"/>
                </a:solidFill>
              </a:defRPr>
            </a:pPr>
            <a:r>
              <a:rPr sz="1575" b="1">
                <a:solidFill>
                  <a:srgbClr val="E8913A"/>
                </a:solidFill>
              </a:rPr>
              <a:t>这些结果是“环境与链路可运行”的证据，不替代论文中的最终统计结果。</a:t>
            </a:r>
          </a:p>
        </p:txBody>
      </p:sp>
    </p:spTree>
    <p:extLst>
      <p:ext uri="{BB962C8B-B14F-4D97-AF65-F5344CB8AC3E}">
        <p14:creationId xmlns:p14="http://schemas.microsoft.com/office/powerpoint/2010/main" val="1636389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8729B-F405-434E-894F-62C0EF90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8D"/>
                </a:solidFill>
              </a:defRPr>
            </a:pPr>
            <a:r>
              <a:rPr sz="1050" b="1">
                <a:solidFill>
                  <a:srgbClr val="0F8B8D"/>
                </a:solidFill>
              </a:rPr>
              <a:t>PGRR · 研究交流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AF404-43EF-45A5-8B7B-D056D829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在线恢复管理器：已验证临时目标与原任务目标的恢复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14EF1-494F-4CFC-9D9F-ED4C0593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AD608-7F66-45AD-9C9E-69E81BD5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9"/>
                </a:solidFill>
              </a:defRPr>
            </a:pPr>
            <a:r>
              <a:rPr sz="975" b="1">
                <a:solidFill>
                  <a:srgbClr val="53657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52FBC-CF63-4748-98FA-98E4FEE6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43225"/>
            <a:ext cx="838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8B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7C57A-6994-4A0C-B419-6932B840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43225"/>
            <a:ext cx="838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8B8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9D3F5-B89B-446B-844F-FE4DAC49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43225"/>
            <a:ext cx="838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8B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C7969-9C91-4ADB-9B7C-A09CE9D9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8859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05A81-78F0-4CC8-8547-B445A8CD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检测到失败风险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4F0D7-A82B-4DF1-AFD2-7B494B62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1924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00A74-0445-4E4E-B5C7-91791944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4320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临时恢复目标</a:t>
            </a:r>
          </a:p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(0.966, 0.500)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7AC35-D2C7-48AD-836E-3E68099E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1924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AAEC4-8DFC-4C81-88AE-1D1FF41D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受限恢复执行</a:t>
            </a:r>
          </a:p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共 5 次决策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1EE27-2E8B-4E6C-8551-47637426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1924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731DB-25AE-4EA8-B214-BB88A68B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4320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恢复原任务目标</a:t>
            </a:r>
          </a:p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(5.0, 0.0)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6440D-7FDA-4824-A442-E5C245CD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意义：项目的“恢复后回到原路线”核心闭环已经在 ROS 冒烟脚本中跑通。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4A5E8-EE9A-45D0-A99F-B03182DE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9"/>
                </a:solidFill>
              </a:defRPr>
            </a:pPr>
            <a:r>
              <a:rPr sz="1425" b="0">
                <a:solidFill>
                  <a:srgbClr val="536579"/>
                </a:solidFill>
              </a:rPr>
              <a:t>备注：出现过 QoS 兼容性警告，但冒烟脚本以 PASS 结束；需在更复杂的闭环场景中继续观察。</a:t>
            </a:r>
          </a:p>
        </p:txBody>
      </p:sp>
    </p:spTree>
    <p:extLst>
      <p:ext uri="{BB962C8B-B14F-4D97-AF65-F5344CB8AC3E}">
        <p14:creationId xmlns:p14="http://schemas.microsoft.com/office/powerpoint/2010/main" val="1333737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F3303-E44C-4CD3-B7B2-6F91E8C9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8D"/>
                </a:solidFill>
              </a:defRPr>
            </a:pPr>
            <a:r>
              <a:rPr sz="1050" b="1">
                <a:solidFill>
                  <a:srgbClr val="0F8B8D"/>
                </a:solidFill>
              </a:rPr>
              <a:t>PGRR · 研究交流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F081C-0A61-483F-BF47-0EEFC7E6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PGRR 的作用：正常时由 DWB 行驶，失败时才短暂介入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3A5D6-DA05-477E-880D-A81E3AF9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F6948-F420-4DED-A5F0-057A7A6F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9"/>
                </a:solidFill>
              </a:defRPr>
            </a:pPr>
            <a:r>
              <a:rPr sz="975" b="1">
                <a:solidFill>
                  <a:srgbClr val="53657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0AAB9-DB1C-40CC-AF7B-6EBCB71E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14625"/>
            <a:ext cx="952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8B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F2ACD-C7B6-4280-A314-750688F7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52625"/>
            <a:ext cx="952500" cy="762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8B8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84C0C-1B4A-44DD-BC87-A972C373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05125"/>
            <a:ext cx="952500" cy="762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8B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B8741-BEE5-4F56-B5D8-2EBB0E65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1000125" cy="762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8B8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6A0A3-88AE-43ED-9820-2D06C278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1000125" cy="952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8B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9321A-FD58-45C3-9DEF-AD152EFA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18859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AB76A-C24A-4305-96E2-55C6EC65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观测</a:t>
            </a:r>
          </a:p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激光、路径、目标、历史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4567F-F8B6-4D96-88B5-09B86E6A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62200"/>
            <a:ext cx="18192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7E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2F73C-3182-4838-B128-96D5EA86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95550"/>
            <a:ext cx="159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持续失败？</a:t>
            </a:r>
          </a:p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规则触发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20BEA-220E-4731-B178-0495AF8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00200"/>
            <a:ext cx="18573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1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C01E0-40D2-483B-9E3E-EBEA4533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733550"/>
            <a:ext cx="1628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否：Nav2 DWB</a:t>
            </a:r>
          </a:p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正常导航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F79ED-BA9A-4D2C-AB32-007B3525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14700"/>
            <a:ext cx="18573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B312B-681A-483F-AC14-19DF6C9E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48050"/>
            <a:ext cx="1628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是：PGRR</a:t>
            </a:r>
          </a:p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掩码 + 策略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6FE338-F732-453A-B50E-79BFFD19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62200"/>
            <a:ext cx="1952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1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0008A-04B0-4C08-AE3D-17E3F6D4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95550"/>
            <a:ext cx="1724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命令/目标复用</a:t>
            </a:r>
          </a:p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完成后回归 DWB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37E06-FD53-4A60-9671-DC7CEDEF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PGRR 不取代 DWB；它是“失败触发、短时、有边界”的恢复层。</a:t>
            </a:r>
          </a:p>
        </p:txBody>
      </p:sp>
    </p:spTree>
    <p:extLst>
      <p:ext uri="{BB962C8B-B14F-4D97-AF65-F5344CB8AC3E}">
        <p14:creationId xmlns:p14="http://schemas.microsoft.com/office/powerpoint/2010/main" val="955516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2CD19-090A-4E7B-8157-A6650DE2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8D"/>
                </a:solidFill>
              </a:defRPr>
            </a:pPr>
            <a:r>
              <a:rPr sz="1050" b="1">
                <a:solidFill>
                  <a:srgbClr val="0F8B8D"/>
                </a:solidFill>
              </a:rPr>
              <a:t>PGRR · 研究交流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83FA3-79ED-4060-80F1-8B087579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下一步应在独立新场景中检验：安全与完成的提升是否可迁移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11A56-9D43-41BB-B0DA-0B29F588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58B1D-7B03-4BA8-A451-194CB949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9"/>
                </a:solidFill>
              </a:defRPr>
            </a:pPr>
            <a:r>
              <a:rPr sz="975" b="1">
                <a:solidFill>
                  <a:srgbClr val="53657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1916A-9CAD-45A1-ACE3-AF76038D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8B8D"/>
                </a:solidFill>
              </a:defRPr>
            </a:pPr>
            <a:r>
              <a:rPr sz="1875" b="1">
                <a:solidFill>
                  <a:srgbClr val="0F8B8D"/>
                </a:solidFill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95F9B-F932-4100-8A4D-060261CA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5B"/>
                </a:solidFill>
              </a:defRPr>
            </a:pPr>
            <a:r>
              <a:rPr sz="1950" b="1">
                <a:solidFill>
                  <a:srgbClr val="12355B"/>
                </a:solidFill>
              </a:rPr>
              <a:t>当拥挤、遮挡或路径冲突方式变化时，PGRR 是否仍能以可接受的效率代价减少碰撞并提升到达？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59150-ACB7-4A17-84C6-0B055B33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3048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DDD9D-D886-4A0B-82F2-4139481E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安全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8C915-5E29-4410-9542-1C20FD63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碰撞率、最近距离、急停/干预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32DA8-933A-4DDC-BBB0-D8378E83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29000"/>
            <a:ext cx="3048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2F3A0-8762-4737-9C93-7F9759C8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76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D3023-7E47-432F-9A04-ABD06832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95750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到达率、超时率、规划失败率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76565-7788-4AB2-9517-6CDC7D74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29000"/>
            <a:ext cx="3048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9FD37-E982-45BE-87DB-BA682FE8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76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代价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3226D-F3E3-4587-9F0B-D7C57D32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时长、路径长度、角加速度/平滑性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7DC579-E197-4674-89BD-9DBB6F8D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913A"/>
                </a:solidFill>
              </a:defRPr>
            </a:pPr>
            <a:r>
              <a:rPr sz="1500" b="1">
                <a:solidFill>
                  <a:srgbClr val="E8913A"/>
                </a:solidFill>
              </a:rPr>
              <a:t>边界：不在已冻结的 moderate_v6 测试集上调参；新实验应使用独立的场景与划分。</a:t>
            </a:r>
          </a:p>
        </p:txBody>
      </p:sp>
    </p:spTree>
    <p:extLst>
      <p:ext uri="{BB962C8B-B14F-4D97-AF65-F5344CB8AC3E}">
        <p14:creationId xmlns:p14="http://schemas.microsoft.com/office/powerpoint/2010/main" val="17635034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143AEC-BD14-432A-AE7C-EBEC2D0F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8D"/>
                </a:solidFill>
              </a:defRPr>
            </a:pPr>
            <a:r>
              <a:rPr sz="1050" b="1">
                <a:solidFill>
                  <a:srgbClr val="0F8B8D"/>
                </a:solidFill>
              </a:rPr>
              <a:t>PGRR · 研究交流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5A791-B69A-44FE-9436-970F0491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建议优先扩展四类“具有论文价值”的新交互场景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AABC5-2950-4486-A123-916A70C8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0636B-B631-42A4-995C-D5A4F0B9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9"/>
                </a:solidFill>
              </a:defRPr>
            </a:pPr>
            <a:r>
              <a:rPr sz="975" b="1">
                <a:solidFill>
                  <a:srgbClr val="53657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AF6B1-A117-4652-9415-759E44A2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5048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5F1BE-7A91-46F5-A42A-CB8C3CC0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8B8D"/>
                </a:solidFill>
              </a:defRPr>
            </a:pPr>
            <a:r>
              <a:rPr sz="1275" b="1">
                <a:solidFill>
                  <a:srgbClr val="0F8B8D"/>
                </a:solidFill>
              </a:rPr>
              <a:t>场景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C46C8-5CE0-4DE4-B61E-883E690A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193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55B"/>
                </a:solidFill>
              </a:defRPr>
            </a:pPr>
            <a:r>
              <a:rPr sz="1875" b="1">
                <a:solidFill>
                  <a:srgbClr val="12355B"/>
                </a:solidFill>
              </a:rPr>
              <a:t>窄走廊对向通行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40949-1A1D-4E83-BA66-F30D3B50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侧向让行空间有限，考验临时子目标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1A349-8F5C-4C53-8458-216B2AA9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66875"/>
            <a:ext cx="5048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BAF1C-9A4C-4DC2-A7D0-18253A0F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8B8D"/>
                </a:solidFill>
              </a:defRPr>
            </a:pPr>
            <a:r>
              <a:rPr sz="1275" b="1">
                <a:solidFill>
                  <a:srgbClr val="0F8B8D"/>
                </a:solidFill>
              </a:rPr>
              <a:t>场景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657F0-AF85-4045-9A94-AE4FB3BD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193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55B"/>
                </a:solidFill>
              </a:defRPr>
            </a:pPr>
            <a:r>
              <a:rPr sz="1875" b="1">
                <a:solidFill>
                  <a:srgbClr val="12355B"/>
                </a:solidFill>
              </a:rPr>
              <a:t>T 路口横穿与遮挡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E5FB1-3A02-4DC9-9F34-07FC6693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0325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转角后突然出现动态行人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7D424-9214-40B0-B8F7-3BDEFF3A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5048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189EE-DF68-4C37-BDB6-0D01C1DB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8B8D"/>
                </a:solidFill>
              </a:defRPr>
            </a:pPr>
            <a:r>
              <a:rPr sz="1275" b="1">
                <a:solidFill>
                  <a:srgbClr val="0F8B8D"/>
                </a:solidFill>
              </a:rPr>
              <a:t>场景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FA301-7940-44C3-92E9-9C6904A4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55B"/>
                </a:solidFill>
              </a:defRPr>
            </a:pPr>
            <a:r>
              <a:rPr sz="1875" b="1">
                <a:solidFill>
                  <a:srgbClr val="12355B"/>
                </a:solidFill>
              </a:rPr>
              <a:t>门口 / 电梯口群体阻塞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B0C20-6A2F-471D-BE32-7B78053F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等待、绕行与重新规划的取舍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6D0DC-828C-422A-88A0-DF5C6584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5048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1E2907-1EA9-42D2-8F3F-58E2674F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8B8D"/>
                </a:solidFill>
              </a:defRPr>
            </a:pPr>
            <a:r>
              <a:rPr sz="1275" b="1">
                <a:solidFill>
                  <a:srgbClr val="0F8B8D"/>
                </a:solidFill>
              </a:rPr>
              <a:t>场景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A604AD-491B-4904-B59B-BC7076BE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290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55B"/>
                </a:solidFill>
              </a:defRPr>
            </a:pPr>
            <a:r>
              <a:rPr sz="1875" b="1">
                <a:solidFill>
                  <a:srgbClr val="12355B"/>
                </a:solidFill>
              </a:rPr>
              <a:t>静态障碍 + 横穿行人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AE428-32B0-4EC4-8FFB-9FF7CB56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0075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多因素叠加，避免只测单一困难</a:t>
            </a:r>
          </a:p>
        </p:txBody>
      </p:sp>
    </p:spTree>
    <p:extLst>
      <p:ext uri="{BB962C8B-B14F-4D97-AF65-F5344CB8AC3E}">
        <p14:creationId xmlns:p14="http://schemas.microsoft.com/office/powerpoint/2010/main" val="16289432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9D62C-EE8F-447B-9A06-15AA3FA8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8D"/>
                </a:solidFill>
              </a:defRPr>
            </a:pPr>
            <a:r>
              <a:rPr sz="1050" b="1">
                <a:solidFill>
                  <a:srgbClr val="0F8B8D"/>
                </a:solidFill>
              </a:rPr>
              <a:t>PGRR · 研究交流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C89C4-29A0-468E-8E20-EB38CBC6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新增实验必须先锁定公平性：按场景与种子划分，而非按帧划分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74DBB-AF95-4846-80E3-C991FF91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A2EB1-C5AD-4778-9AD2-30B5CFB6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9"/>
                </a:solidFill>
              </a:defRPr>
            </a:pPr>
            <a:r>
              <a:rPr sz="975" b="1">
                <a:solidFill>
                  <a:srgbClr val="53657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C0A9A-49C4-4649-B9A8-8E4E29AB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00375"/>
            <a:ext cx="5238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8B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0F207-2AC1-4016-BD84-2A8185B7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7716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B15F8-9B86-461C-A785-5537677C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新场景库</a:t>
            </a:r>
          </a:p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地图 / 行人轨迹 / 密度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A32E2-DE9E-402D-AF73-77EC1D34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000375"/>
            <a:ext cx="5238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8B8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D146D-6C51-46A7-85C5-A89EB2AC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590800"/>
            <a:ext cx="17716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A8883-890C-4499-81F6-8937F34D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2415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训练集</a:t>
            </a:r>
          </a:p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专家标签、BC、DAgger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6A62F-AA05-438A-8988-2E8B5538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5238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8B8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712EA-0E6E-42C8-B66A-0598C78C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90800"/>
            <a:ext cx="17716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F1B94-B63B-48B0-AFA7-3325B49C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2415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验证集</a:t>
            </a:r>
          </a:p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选模型、定阈值、做消融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CA0B5-EFC4-4E96-A883-0D9C36C6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90800"/>
            <a:ext cx="17716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7E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963B3-4E9A-4CC2-829C-512B6349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2415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独立保留测试</a:t>
            </a:r>
          </a:p>
          <a:p xmlns:a="http://schemas.openxmlformats.org/drawingml/2006/main">
            <a:pPr algn="ctr">
              <a:defRPr sz="1500" b="1">
                <a:solidFill>
                  <a:srgbClr val="12355B"/>
                </a:solidFill>
              </a:defRPr>
            </a:pPr>
            <a:r>
              <a:rPr sz="1500" b="1">
                <a:solidFill>
                  <a:srgbClr val="12355B"/>
                </a:solidFill>
              </a:rPr>
              <a:t>仅做最终对照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C6B34-9806-42DE-87F9-15220CD0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55B"/>
                </a:solidFill>
              </a:defRPr>
            </a:pPr>
            <a:r>
              <a:rPr sz="1725" b="1">
                <a:solidFill>
                  <a:srgbClr val="12355B"/>
                </a:solidFill>
              </a:rPr>
              <a:t>同一条件下比较 Base / Standard / Heuristic / BC / PGRR，并保留每一次 episode 的终止原因。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DA38F7-FDCE-481F-9601-0F23A4C2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579"/>
                </a:solidFill>
              </a:defRPr>
            </a:pPr>
            <a:r>
              <a:rPr sz="1500" b="0">
                <a:solidFill>
                  <a:srgbClr val="536579"/>
                </a:solidFill>
              </a:rPr>
              <a:t>需要教授确认：新场景是否采用“同一地图新交互”还是“新地图 + 新交互”的泛化层级？</a:t>
            </a:r>
          </a:p>
        </p:txBody>
      </p:sp>
    </p:spTree>
    <p:extLst>
      <p:ext uri="{BB962C8B-B14F-4D97-AF65-F5344CB8AC3E}">
        <p14:creationId xmlns:p14="http://schemas.microsoft.com/office/powerpoint/2010/main" val="17502140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0DC3C-E077-4B07-B8E7-A13C615E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8D"/>
                </a:solidFill>
              </a:defRPr>
            </a:pPr>
            <a:r>
              <a:rPr sz="1050" b="1">
                <a:solidFill>
                  <a:srgbClr val="0F8B8D"/>
                </a:solidFill>
              </a:rPr>
              <a:t>PGRR · 研究交流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E4BE7-70B3-428D-BA45-CE4B2DED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DAgger 第二次候选在验证上更差：先做诊断，不应直接下结论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317FE-FE88-4508-9DB7-8DACDCA8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6CB10-C1BA-40C8-BACA-317B7B2B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9"/>
                </a:solidFill>
              </a:defRPr>
            </a:pPr>
            <a:r>
              <a:rPr sz="975" b="1">
                <a:solidFill>
                  <a:srgbClr val="53657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D3734-D9CB-4FD1-9130-5EC651B0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8B8D"/>
                </a:solidFill>
              </a:defRPr>
            </a:pPr>
            <a:r>
              <a:rPr sz="1875" b="1">
                <a:solidFill>
                  <a:srgbClr val="0F8B8D"/>
                </a:solidFill>
              </a:rPr>
              <a:t>当前准确表述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7CD13-0842-4631-BFB0-38A818FA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“后续 DAgger 候选的验证表现不如已选模型。”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A6269-9E1A-49C7-98B9-B112D63F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经典过拟合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414B3-A28D-449F-BC9F-24CFEE89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</a:defRPr>
            </a:pPr>
            <a:r>
              <a:rPr sz="1275" b="0">
                <a:solidFill>
                  <a:srgbClr val="536579"/>
                </a:solidFill>
              </a:rPr>
              <a:t>训练表现继续变好，但验证表现下降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1800D-6988-482A-AB56-D9FC1268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数据覆盖失衡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F7F44-2696-4240-8B5E-78268B26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671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</a:defRPr>
            </a:pPr>
            <a:r>
              <a:rPr sz="1275" b="0">
                <a:solidFill>
                  <a:srgbClr val="536579"/>
                </a:solidFill>
              </a:rPr>
              <a:t>少数高风险状态被重复采样或类别分布偏移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98DD3-031E-4A8F-9560-D40396C1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分布/标签变化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04E6B-096C-451C-8F36-A4F5C1DE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</a:defRPr>
            </a:pPr>
            <a:r>
              <a:rPr sz="1275" b="0">
                <a:solidFill>
                  <a:srgbClr val="536579"/>
                </a:solidFill>
              </a:rPr>
              <a:t>新收集状态、专家标签或掩码的统计性质改变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DA945-42B4-47DB-B412-F5C89231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338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配置差异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BCEE8-5023-46B6-909C-EFC500B1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577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</a:defRPr>
            </a:pPr>
            <a:r>
              <a:rPr sz="1275" b="0">
                <a:solidFill>
                  <a:srgbClr val="536579"/>
                </a:solidFill>
              </a:rPr>
              <a:t>轮次、权重、早停或验证集配置并不等价</a:t>
            </a:r>
          </a:p>
        </p:txBody>
      </p:sp>
    </p:spTree>
    <p:extLst>
      <p:ext uri="{BB962C8B-B14F-4D97-AF65-F5344CB8AC3E}">
        <p14:creationId xmlns:p14="http://schemas.microsoft.com/office/powerpoint/2010/main" val="1678319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A5E9E6-1260-4D29-B9E3-676A1C86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8D"/>
                </a:solidFill>
              </a:defRPr>
            </a:pPr>
            <a:r>
              <a:rPr sz="1050" b="1">
                <a:solidFill>
                  <a:srgbClr val="0F8B8D"/>
                </a:solidFill>
              </a:rPr>
              <a:t>PGRR · 研究交流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898AC-EA79-42E7-B367-1CB5660F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DAgger 改进应从可复现诊断开始，再在新训练/验证集上做受控比较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E00A4-3B02-4461-B4C0-7B6415ED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EDB71-9403-42FC-AA78-7BB7D5FB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9"/>
                </a:solidFill>
              </a:defRPr>
            </a:pPr>
            <a:r>
              <a:rPr sz="975" b="1">
                <a:solidFill>
                  <a:srgbClr val="53657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317CE-1BE9-46AF-934B-1557BA31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8B8D"/>
                </a:solidFill>
              </a:defRPr>
            </a:pPr>
            <a:r>
              <a:rPr sz="2100" b="1">
                <a:solidFill>
                  <a:srgbClr val="0F8B8D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8E360-76D9-4480-80E9-06E6FE2E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38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</a:defRPr>
            </a:pPr>
            <a:r>
              <a:rPr sz="1650" b="1">
                <a:solidFill>
                  <a:srgbClr val="12355B"/>
                </a:solidFill>
              </a:rPr>
              <a:t>比较曲线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10831-ED3F-47F3-BBE5-87A2C478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383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9"/>
                </a:solidFill>
              </a:defRPr>
            </a:pPr>
            <a:r>
              <a:rPr sz="1425" b="0">
                <a:solidFill>
                  <a:srgbClr val="536579"/>
                </a:solidFill>
              </a:rPr>
              <a:t>BC、DAgger-1、后续候选：训练与验证 loss / top-1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7089C-E69D-48EA-945F-189D4AC0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9A862-0885-4D5E-9DD7-57CDA98D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8B8D"/>
                </a:solidFill>
              </a:defRPr>
            </a:pPr>
            <a:r>
              <a:rPr sz="2100" b="1">
                <a:solidFill>
                  <a:srgbClr val="0F8B8D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9E554-79C8-4D3E-86FB-13A79828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</a:defRPr>
            </a:pPr>
            <a:r>
              <a:rPr sz="1650" b="1">
                <a:solidFill>
                  <a:srgbClr val="12355B"/>
                </a:solidFill>
              </a:rPr>
              <a:t>查数据分布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AA841-1651-4310-99A4-DD83FAB9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09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9"/>
                </a:solidFill>
              </a:defRPr>
            </a:pPr>
            <a:r>
              <a:rPr sz="1425" b="0">
                <a:solidFill>
                  <a:srgbClr val="536579"/>
                </a:solidFill>
              </a:rPr>
              <a:t>动作类别、掩码可行动作数、场景覆盖、专家 regret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E08AD-3296-4B6D-977F-844032E6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6D167-67B0-469E-86C3-271AF523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8B8D"/>
                </a:solidFill>
              </a:defRPr>
            </a:pPr>
            <a:r>
              <a:rPr sz="2100" b="1">
                <a:solidFill>
                  <a:srgbClr val="0F8B8D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6FA2B-CF45-4A9A-B17B-174ED417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81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</a:defRPr>
            </a:pPr>
            <a:r>
              <a:rPr sz="1650" b="1">
                <a:solidFill>
                  <a:srgbClr val="12355B"/>
                </a:solidFill>
              </a:rPr>
              <a:t>查闭环失败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BC793-C238-4D6B-97BC-A3F193CE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814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9"/>
                </a:solidFill>
              </a:defRPr>
            </a:pPr>
            <a:r>
              <a:rPr sz="1425" b="0">
                <a:solidFill>
                  <a:srgbClr val="536579"/>
                </a:solidFill>
              </a:rPr>
              <a:t>碰撞、超时、规划失败在何种状态与场景集中出现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198CF-8D55-4C88-A829-2A4ACCCD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0118A-856A-494D-AF35-F41E3E04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8B8D"/>
                </a:solidFill>
              </a:defRPr>
            </a:pPr>
            <a:r>
              <a:rPr sz="2100" b="1">
                <a:solidFill>
                  <a:srgbClr val="0F8B8D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36024-D107-426F-A084-4907AD03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52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</a:defRPr>
            </a:pPr>
            <a:r>
              <a:rPr sz="1650" b="1">
                <a:solidFill>
                  <a:srgbClr val="12355B"/>
                </a:solidFill>
              </a:rPr>
              <a:t>受控改进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8F483-BE94-4AA7-BF50-CCDC6152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529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9"/>
                </a:solidFill>
              </a:defRPr>
            </a:pPr>
            <a:r>
              <a:rPr sz="1425" b="0">
                <a:solidFill>
                  <a:srgbClr val="536579"/>
                </a:solidFill>
              </a:rPr>
              <a:t>重采样、类别平衡、混合比例、早停；每次只改一个变量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87BFA8-5C08-4D2E-AD8A-4F38AA8F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913A"/>
                </a:solidFill>
              </a:defRPr>
            </a:pPr>
            <a:r>
              <a:rPr sz="1575" b="1">
                <a:solidFill>
                  <a:srgbClr val="E8913A"/>
                </a:solidFill>
              </a:rPr>
              <a:t>所有模型选择只看验证集；独立保留测试集只在方案锁定后运行一次。</a:t>
            </a:r>
          </a:p>
        </p:txBody>
      </p:sp>
    </p:spTree>
    <p:extLst>
      <p:ext uri="{BB962C8B-B14F-4D97-AF65-F5344CB8AC3E}">
        <p14:creationId xmlns:p14="http://schemas.microsoft.com/office/powerpoint/2010/main" val="2871885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B77768-A376-4E6B-ADD1-CE30117F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8D"/>
                </a:solidFill>
              </a:defRPr>
            </a:pPr>
            <a:r>
              <a:rPr sz="1050" b="1">
                <a:solidFill>
                  <a:srgbClr val="0F8B8D"/>
                </a:solidFill>
              </a:rPr>
              <a:t>PGRR · 研究交流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CC6BC-56F6-4631-BB58-4A46D0A2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作业二、三的下一步：先最小重构，再把研究设计划成图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F9810-76CC-4138-847E-8C6E053C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49508-DE42-44D5-BE20-3C48127A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9"/>
                </a:solidFill>
              </a:defRPr>
            </a:pPr>
            <a:r>
              <a:rPr sz="975" b="1">
                <a:solidFill>
                  <a:srgbClr val="53657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6AF19-ADF7-467C-B794-D3EC8B06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3053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3FF28-4641-4423-8AD4-6818196E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观察构建器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5764A-D618-4482-ACEC-AD72A94C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</a:defRPr>
            </a:pPr>
            <a:r>
              <a:rPr sz="1200" b="0">
                <a:solidFill>
                  <a:srgbClr val="536579"/>
                </a:solidFill>
              </a:rPr>
              <a:t>整理传感器、进度、路径与历史状态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87608-0F2F-4DDC-9164-8BE63466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3053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21020-6C3A-4364-B6EF-6D5379CC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决策协调器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5517A-C9FA-4F41-857E-5D67969E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</a:defRPr>
            </a:pPr>
            <a:r>
              <a:rPr sz="1200" b="0">
                <a:solidFill>
                  <a:srgbClr val="536579"/>
                </a:solidFill>
              </a:rPr>
              <a:t>触发、动作掩码、策略选择、状态机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C3733-9574-4A64-A2CC-04D16DE8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3053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CB7EC-6294-4D9F-B5B2-501FE949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ROS 适配层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1F528-D3B0-45A8-84A9-A7D69F67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</a:defRPr>
            </a:pPr>
            <a:r>
              <a:rPr sz="1200" b="0">
                <a:solidFill>
                  <a:srgbClr val="536579"/>
                </a:solidFill>
              </a:rPr>
              <a:t>订阅/发布/参数/时钟，保持行为不变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93F31-9FAB-48C4-9C4C-4A712B0C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8B8D"/>
                </a:solidFill>
              </a:defRPr>
            </a:pPr>
            <a:r>
              <a:rPr sz="1800" b="1">
                <a:solidFill>
                  <a:srgbClr val="0F8B8D"/>
                </a:solidFill>
              </a:rPr>
              <a:t>作业三图示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2E774-B15E-4D70-8884-40C6A4B0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B8D"/>
                </a:solidFill>
              </a:defRPr>
            </a:pPr>
            <a:r>
              <a:rPr sz="1500" b="1">
                <a:solidFill>
                  <a:srgbClr val="0F8B8D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11A41-0224-43CD-B9B1-BF175BCC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算法框架：DWB 与 PGRR 的分工和回归路径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73186-7455-43E7-AC1E-51C42BF7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B8D"/>
                </a:solidFill>
              </a:defRPr>
            </a:pPr>
            <a:r>
              <a:rPr sz="1500" b="1">
                <a:solidFill>
                  <a:srgbClr val="0F8B8D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C3C81-16F5-4B47-B671-78E2CFE2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任务场景：行人、障碍物、起终点、冲突区域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0ADE9-52C4-4A4C-9862-0C767CF0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B8D"/>
                </a:solidFill>
              </a:defRPr>
            </a:pPr>
            <a:r>
              <a:rPr sz="1500" b="1">
                <a:solidFill>
                  <a:srgbClr val="0F8B8D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7688FB-DB8F-4D9C-AFAF-A4E4152B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实验流程：数据 → 标签 → 训练 → 验证 → 保留测试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B2C908-95D2-40E9-9B35-980EE048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1014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913A"/>
                </a:solidFill>
              </a:defRPr>
            </a:pPr>
            <a:r>
              <a:rPr sz="1500" b="1">
                <a:solidFill>
                  <a:srgbClr val="E8913A"/>
                </a:solidFill>
              </a:rPr>
              <a:t>重构原则：先保持 25 个动作 ID、观察/掩码形状和 ROS 接口不变，再用单元测试证明行为一致。</a:t>
            </a:r>
          </a:p>
        </p:txBody>
      </p:sp>
    </p:spTree>
    <p:extLst>
      <p:ext uri="{BB962C8B-B14F-4D97-AF65-F5344CB8AC3E}">
        <p14:creationId xmlns:p14="http://schemas.microsoft.com/office/powerpoint/2010/main" val="812485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656D0-59A7-4C69-B0B8-E2F48E9B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8D"/>
                </a:solidFill>
              </a:defRPr>
            </a:pPr>
            <a:r>
              <a:rPr sz="1050" b="1">
                <a:solidFill>
                  <a:srgbClr val="0F8B8D"/>
                </a:solidFill>
              </a:rPr>
              <a:t>PGRR · 研究交流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6F355-BEB9-49FA-A665-57DD8DEE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希望教授给予的四项指导，以及会后可执行的第一步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5E215-3EC6-460D-97EF-BAF9E486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CE135-90B8-49AB-9BC6-7F33E1F9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579"/>
                </a:solidFill>
              </a:defRPr>
            </a:pPr>
            <a:r>
              <a:rPr sz="975" b="1">
                <a:solidFill>
                  <a:srgbClr val="53657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97731-84EA-404C-BD25-72DD78BA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8B8D"/>
                </a:solidFill>
              </a:defRPr>
            </a:pPr>
            <a:r>
              <a:rPr sz="1650" b="1">
                <a:solidFill>
                  <a:srgbClr val="0F8B8D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2EA65-2D55-496E-A8D6-3278B4C7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6687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新场景优先选择哪 2–3 类？研究问题如何收敛？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FD710-AFD7-480E-BE3A-555850B3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8B8D"/>
                </a:solidFill>
              </a:defRPr>
            </a:pPr>
            <a:r>
              <a:rPr sz="1650" b="1">
                <a:solidFill>
                  <a:srgbClr val="0F8B8D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B204D-9F59-4233-AD65-004E1706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717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训练 / 验证 / 保留测试应如何定义泛化层级？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AD7B2-9F49-4692-80C9-556FB56A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8B8D"/>
                </a:solidFill>
              </a:defRPr>
            </a:pPr>
            <a:r>
              <a:rPr sz="1650" b="1">
                <a:solidFill>
                  <a:srgbClr val="0F8B8D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E3579-90C9-4A54-9F1B-31795222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7657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DAgger 诊断最值得先看哪些指标与消融？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44277-E57A-4432-8CA1-2F3478B7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8B8D"/>
                </a:solidFill>
              </a:defRPr>
            </a:pPr>
            <a:r>
              <a:rPr sz="1650" b="1">
                <a:solidFill>
                  <a:srgbClr val="0F8B8D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82962-1383-4DE6-8375-8B428F58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814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模块化重构的最小可接受范围与代码审查重点？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DA9B0-1FF5-441C-9891-34D5D024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096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3DA8B-DC27-40D5-9168-5DE1239C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952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会后第一步：写出场景参数表与数据划分方案 → 请教授确认 → 再启动独立实验。</a:t>
            </a:r>
          </a:p>
        </p:txBody>
      </p:sp>
    </p:spTree>
    <p:extLst>
      <p:ext uri="{BB962C8B-B14F-4D97-AF65-F5344CB8AC3E}">
        <p14:creationId xmlns:p14="http://schemas.microsoft.com/office/powerpoint/2010/main" val="1423441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2026-08-27T11:40:20.0390000Z</dcterms:created>
  <dcterms:modified xsi:type="dcterms:W3CDTF">2026-08-27T11:40:20.0390000Z</dcterms:modified>
</coreProperties>
</file>