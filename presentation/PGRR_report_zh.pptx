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B1F23"/>
                </a:solidFill>
                <a:latin typeface="Noto Sans CJK SC"/>
              </a:defRPr>
            </a:pPr>
            <a:r>
              <a:t>PGRR：规划引导、失败触发的动态社会导航恢复与重接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6420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356E9F"/>
                </a:solidFill>
                <a:latin typeface="Noto Sans CJK SC"/>
              </a:defRPr>
            </a:pPr>
            <a:r>
              <a:t>PGRR: Planning-Guided Failure-Triggered Recovery and Rejoin for Dynamic Social Navigation</a:t>
            </a:r>
          </a:p>
        </p:txBody>
      </p:sp>
      <p:pic>
        <p:nvPicPr>
          <p:cNvPr id="4" name="Picture 3" descr="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397225"/>
            <a:ext cx="7589520" cy="34808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49640" y="2743200"/>
            <a:ext cx="283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B1F23"/>
                </a:solidFill>
                <a:latin typeface="Noto Sans CJK SC"/>
              </a:defRPr>
            </a:pPr>
            <a:r>
              <a:t>• EI 会议项目汇报</a:t>
            </a:r>
          </a:p>
          <a:p>
            <a:pPr>
              <a:spcAft>
                <a:spcPts val="800"/>
              </a:spcAft>
              <a:defRPr sz="1700">
                <a:solidFill>
                  <a:srgbClr val="1B1F23"/>
                </a:solidFill>
                <a:latin typeface="Noto Sans CJK SC"/>
              </a:defRPr>
            </a:pPr>
            <a:r>
              <a:t>• 锁定 Test 结果</a:t>
            </a:r>
          </a:p>
          <a:p>
            <a:pPr>
              <a:spcAft>
                <a:spcPts val="800"/>
              </a:spcAft>
              <a:defRPr sz="1700">
                <a:solidFill>
                  <a:srgbClr val="1B1F23"/>
                </a:solidFill>
                <a:latin typeface="Noto Sans CJK SC"/>
              </a:defRPr>
            </a:pPr>
            <a:r>
              <a:t>• Charles Chen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6949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356E9F"/>
                </a:solidFill>
                <a:latin typeface="Noto Sans CJK SC"/>
              </a:defRPr>
            </a:pPr>
            <a:r>
              <a:t>锁定 Test 结果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446520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0">
                <a:solidFill>
                  <a:srgbClr val="59636B"/>
                </a:solidFill>
                <a:latin typeface="Noto Sans CJK SC"/>
              </a:defRPr>
            </a:pPr>
            <a:r>
              <a:t>PGRR  |  01/30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B1F23"/>
                </a:solidFill>
                <a:latin typeface="Noto Sans CJK SC"/>
              </a:defRPr>
            </a:pPr>
            <a:r>
              <a:t>一句话结论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10972800" cy="27432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50" b="1">
                <a:solidFill>
                  <a:srgbClr val="356E9F"/>
                </a:solidFill>
                <a:latin typeface="Noto Sans CJK SC"/>
              </a:defRPr>
            </a:pPr>
            <a:r>
              <a:t>学习模块不是新的底盘控制器，而是受规划约束的短时恢复决策层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19072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B1F23"/>
                </a:solidFill>
                <a:latin typeface="Noto Sans CJK SC"/>
              </a:defRPr>
            </a:pPr>
            <a:r>
              <a:t>• 正常状态继续使用 Nav2 DWB</a:t>
            </a:r>
          </a:p>
          <a:p>
            <a:pPr>
              <a:spcAft>
                <a:spcPts val="800"/>
              </a:spcAft>
              <a:defRPr sz="1900">
                <a:solidFill>
                  <a:srgbClr val="1B1F23"/>
                </a:solidFill>
                <a:latin typeface="Noto Sans CJK SC"/>
              </a:defRPr>
            </a:pPr>
            <a:r>
              <a:t>• 持续风险、冻结、振荡或死锁证据才触发恢复</a:t>
            </a:r>
          </a:p>
          <a:p>
            <a:pPr>
              <a:spcAft>
                <a:spcPts val="800"/>
              </a:spcAft>
              <a:defRPr sz="1900">
                <a:solidFill>
                  <a:srgbClr val="1B1F23"/>
                </a:solidFill>
                <a:latin typeface="Noto Sans CJK SC"/>
              </a:defRPr>
            </a:pPr>
            <a:r>
              <a:t>• 策略选择临时子目标或 WAIT / BACKUP / REPLAN / CONTINUE</a:t>
            </a:r>
          </a:p>
          <a:p>
            <a:pPr>
              <a:spcAft>
                <a:spcPts val="800"/>
              </a:spcAft>
              <a:defRPr sz="1900">
                <a:solidFill>
                  <a:srgbClr val="1B1F23"/>
                </a:solidFill>
                <a:latin typeface="Noto Sans CJK SC"/>
              </a:defRPr>
            </a:pPr>
            <a:r>
              <a:t>• 完成后恢复原始 PointGoal 并重新接回经典导航</a:t>
            </a:r>
          </a:p>
          <a:p>
            <a:pPr>
              <a:spcAft>
                <a:spcPts val="800"/>
              </a:spcAft>
              <a:defRPr sz="1900">
                <a:solidFill>
                  <a:srgbClr val="1B1F23"/>
                </a:solidFill>
                <a:latin typeface="Noto Sans CJK SC"/>
              </a:defRPr>
            </a:pPr>
            <a:r>
              <a:t>• 历史 v1 64/64（非 v6）：PGRR/Base 碰撞 0/24 vs 19/24、超时 16/24 vs 0/24、到达 8/24 vs 5/24；校正成功差异不显著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6949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356E9F"/>
                </a:solidFill>
                <a:latin typeface="Noto Sans CJK SC"/>
              </a:defRPr>
            </a:pPr>
            <a:r>
              <a:t>锁定 Test 结果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446520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0">
                <a:solidFill>
                  <a:srgbClr val="59636B"/>
                </a:solidFill>
                <a:latin typeface="Noto Sans CJK SC"/>
              </a:defRPr>
            </a:pPr>
            <a:r>
              <a:t>PGRR  |  02/30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B1F23"/>
                </a:solidFill>
                <a:latin typeface="Noto Sans CJK SC"/>
              </a:defRPr>
            </a:pPr>
            <a:r>
              <a:t>为什么经典规划器仍会失败？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10972800" cy="27432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50" b="1">
                <a:solidFill>
                  <a:srgbClr val="356E9F"/>
                </a:solidFill>
                <a:latin typeface="Noto Sans CJK SC"/>
              </a:defRPr>
            </a:pPr>
            <a:r>
              <a:t>局部可行不等于动态交互可恢复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50">
                <a:solidFill>
                  <a:srgbClr val="1B1F23"/>
                </a:solidFill>
                <a:latin typeface="Noto Sans CJK SC"/>
              </a:defRPr>
            </a:pPr>
            <a:r>
              <a:t>• 对向会车：双方持续占据彼此最优局部轨迹</a:t>
            </a:r>
          </a:p>
          <a:p>
            <a:pPr>
              <a:spcAft>
                <a:spcPts val="800"/>
              </a:spcAft>
              <a:defRPr sz="1650">
                <a:solidFill>
                  <a:srgbClr val="1B1F23"/>
                </a:solidFill>
                <a:latin typeface="Noto Sans CJK SC"/>
              </a:defRPr>
            </a:pPr>
            <a:r>
              <a:t>• 门口竞争：短时最优控制造成冻结或相互抢占</a:t>
            </a:r>
          </a:p>
          <a:p>
            <a:pPr>
              <a:spcAft>
                <a:spcPts val="800"/>
              </a:spcAft>
              <a:defRPr sz="1650">
                <a:solidFill>
                  <a:srgbClr val="1B1F23"/>
                </a:solidFill>
                <a:latin typeface="Noto Sans CJK SC"/>
              </a:defRPr>
            </a:pPr>
            <a:r>
              <a:t>• 盲角突现：有限视野下接近速度快速变化</a:t>
            </a:r>
          </a:p>
          <a:p>
            <a:pPr>
              <a:spcAft>
                <a:spcPts val="800"/>
              </a:spcAft>
              <a:defRPr sz="1650">
                <a:solidFill>
                  <a:srgbClr val="1B1F23"/>
                </a:solidFill>
                <a:latin typeface="Noto Sans CJK SC"/>
              </a:defRPr>
            </a:pPr>
            <a:r>
              <a:t>• 临时封堵：局部规划器反复输出无效控制或振荡</a:t>
            </a:r>
          </a:p>
        </p:txBody>
      </p:sp>
      <p:pic>
        <p:nvPicPr>
          <p:cNvPr id="6" name="Picture 5" descr="scenario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2357609"/>
            <a:ext cx="6126480" cy="30114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446520"/>
            <a:ext cx="6949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356E9F"/>
                </a:solidFill>
                <a:latin typeface="Noto Sans CJK SC"/>
              </a:defRPr>
            </a:pPr>
            <a:r>
              <a:t>锁定 Test 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46520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0">
                <a:solidFill>
                  <a:srgbClr val="59636B"/>
                </a:solidFill>
                <a:latin typeface="Noto Sans CJK SC"/>
              </a:defRPr>
            </a:pPr>
            <a:r>
              <a:t>PGRR  |  03/30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B1F23"/>
                </a:solidFill>
                <a:latin typeface="Noto Sans CJK SC"/>
              </a:defRPr>
            </a:pPr>
            <a:r>
              <a:t>失败不是单一碰撞标签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10972800" cy="27432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50" b="1">
                <a:solidFill>
                  <a:srgbClr val="356E9F"/>
                </a:solidFill>
                <a:latin typeface="Noto Sans CJK SC"/>
              </a:defRPr>
            </a:pPr>
            <a:r>
              <a:t>系统区分碰撞风险、冻结、振荡和动态死锁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19072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B1F23"/>
                </a:solidFill>
                <a:latin typeface="Noto Sans CJK SC"/>
              </a:defRPr>
            </a:pPr>
            <a:r>
              <a:t>• 碰撞风险：前向硬防护或持续闭合趋势</a:t>
            </a:r>
          </a:p>
          <a:p>
            <a:pPr>
              <a:spcAft>
                <a:spcPts val="800"/>
              </a:spcAft>
              <a:defRPr sz="1900">
                <a:solidFill>
                  <a:srgbClr val="1B1F23"/>
                </a:solidFill>
                <a:latin typeface="Noto Sans CJK SC"/>
              </a:defRPr>
            </a:pPr>
            <a:r>
              <a:t>• 冻结：离目标仍远、位移不足且规划器请求运动</a:t>
            </a:r>
          </a:p>
          <a:p>
            <a:pPr>
              <a:spcAft>
                <a:spcPts val="800"/>
              </a:spcAft>
              <a:defRPr sz="1900">
                <a:solidFill>
                  <a:srgbClr val="1B1F23"/>
                </a:solidFill>
                <a:latin typeface="Noto Sans CJK SC"/>
              </a:defRPr>
            </a:pPr>
            <a:r>
              <a:t>• 振荡：角速度多次换向但目标进展不足</a:t>
            </a:r>
          </a:p>
          <a:p>
            <a:pPr>
              <a:spcAft>
                <a:spcPts val="800"/>
              </a:spcAft>
              <a:defRPr sz="1900">
                <a:solidFill>
                  <a:srgbClr val="1B1F23"/>
                </a:solidFill>
                <a:latin typeface="Noto Sans CJK SC"/>
              </a:defRPr>
            </a:pPr>
            <a:r>
              <a:t>• 死锁：持续阻塞且短窗口无法恢复有效进展</a:t>
            </a:r>
          </a:p>
          <a:p>
            <a:pPr>
              <a:spcAft>
                <a:spcPts val="800"/>
              </a:spcAft>
              <a:defRPr sz="1900">
                <a:solidFill>
                  <a:srgbClr val="1B1F23"/>
                </a:solidFill>
                <a:latin typeface="Noto Sans CJK SC"/>
              </a:defRPr>
            </a:pPr>
            <a:r>
              <a:t>• 最终结局仍独立记录为到达、碰撞、超时或规划失败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6949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356E9F"/>
                </a:solidFill>
                <a:latin typeface="Noto Sans CJK SC"/>
              </a:defRPr>
            </a:pPr>
            <a:r>
              <a:t>锁定 Test 结果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446520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0">
                <a:solidFill>
                  <a:srgbClr val="59636B"/>
                </a:solidFill>
                <a:latin typeface="Noto Sans CJK SC"/>
              </a:defRPr>
            </a:pPr>
            <a:r>
              <a:t>PGRR  |  04/30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B1F23"/>
                </a:solidFill>
                <a:latin typeface="Noto Sans CJK SC"/>
              </a:defRPr>
            </a:pPr>
            <a:r>
              <a:t>研究问题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10972800" cy="27432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50" b="1">
                <a:solidFill>
                  <a:srgbClr val="356E9F"/>
                </a:solidFill>
                <a:latin typeface="Noto Sans CJK SC"/>
              </a:defRPr>
            </a:pPr>
            <a:r>
              <a:t>能否提高困难动态交互的恢复能力，同时不破坏正常规划稳定性？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19072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B1F23"/>
                </a:solidFill>
                <a:latin typeface="Noto Sans CJK SC"/>
              </a:defRPr>
            </a:pPr>
            <a:r>
              <a:t>• 介入应稀疏、可解释、可取消</a:t>
            </a:r>
          </a:p>
          <a:p>
            <a:pPr>
              <a:spcAft>
                <a:spcPts val="800"/>
              </a:spcAft>
              <a:defRPr sz="1900">
                <a:solidFill>
                  <a:srgbClr val="1B1F23"/>
                </a:solidFill>
                <a:latin typeface="Noto Sans CJK SC"/>
              </a:defRPr>
            </a:pPr>
            <a:r>
              <a:t>• 学习动作必须经过规划可行性约束</a:t>
            </a:r>
          </a:p>
          <a:p>
            <a:pPr>
              <a:spcAft>
                <a:spcPts val="800"/>
              </a:spcAft>
              <a:defRPr sz="1900">
                <a:solidFill>
                  <a:srgbClr val="1B1F23"/>
                </a:solidFill>
                <a:latin typeface="Noto Sans CJK SC"/>
              </a:defRPr>
            </a:pPr>
            <a:r>
              <a:t>• 训练可用特权监督，测试只能用机器人可观测信息</a:t>
            </a:r>
          </a:p>
          <a:p>
            <a:pPr>
              <a:spcAft>
                <a:spcPts val="800"/>
              </a:spcAft>
              <a:defRPr sz="1900">
                <a:solidFill>
                  <a:srgbClr val="1B1F23"/>
                </a:solidFill>
                <a:latin typeface="Noto Sans CJK SC"/>
              </a:defRPr>
            </a:pPr>
            <a:r>
              <a:t>• 效果必须在相同 episode manifest 上配对比较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6949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356E9F"/>
                </a:solidFill>
                <a:latin typeface="Noto Sans CJK SC"/>
              </a:defRPr>
            </a:pPr>
            <a:r>
              <a:t>锁定 Test 结果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446520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0">
                <a:solidFill>
                  <a:srgbClr val="59636B"/>
                </a:solidFill>
                <a:latin typeface="Noto Sans CJK SC"/>
              </a:defRPr>
            </a:pPr>
            <a:r>
              <a:t>PGRR  |  05/30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B1F23"/>
                </a:solidFill>
                <a:latin typeface="Noto Sans CJK SC"/>
              </a:defRPr>
            </a:pPr>
            <a:r>
              <a:t>贡献与边界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10972800" cy="27432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50" b="1">
                <a:solidFill>
                  <a:srgbClr val="356E9F"/>
                </a:solidFill>
                <a:latin typeface="Noto Sans CJK SC"/>
              </a:defRPr>
            </a:pPr>
            <a:r>
              <a:t>贡献集中在失败触发、规划专家、恢复分布学习和受限重接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19072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B1F23"/>
                </a:solidFill>
                <a:latin typeface="Noto Sans CJK SC"/>
              </a:defRPr>
            </a:pPr>
            <a:r>
              <a:t>• 失败前触发的经典规划器恢复层</a:t>
            </a:r>
          </a:p>
          <a:p>
            <a:pPr>
              <a:spcAft>
                <a:spcPts val="800"/>
              </a:spcAft>
              <a:defRPr sz="1900">
                <a:solidFill>
                  <a:srgbClr val="1B1F23"/>
                </a:solidFill>
                <a:latin typeface="Noto Sans CJK SC"/>
              </a:defRPr>
            </a:pPr>
            <a:r>
              <a:t>• 特权短时域规划自动生成恢复示范</a:t>
            </a:r>
          </a:p>
          <a:p>
            <a:pPr>
              <a:spcAft>
                <a:spcPts val="800"/>
              </a:spcAft>
              <a:defRPr sz="1900">
                <a:solidFill>
                  <a:srgbClr val="1B1F23"/>
                </a:solidFill>
                <a:latin typeface="Noto Sans CJK SC"/>
              </a:defRPr>
            </a:pPr>
            <a:r>
              <a:t>• Behavior Cloning + 两轮 DAgger 覆盖策略诱导状态</a:t>
            </a:r>
          </a:p>
          <a:p>
            <a:pPr>
              <a:spcAft>
                <a:spcPts val="800"/>
              </a:spcAft>
              <a:defRPr sz="1900">
                <a:solidFill>
                  <a:srgbClr val="1B1F23"/>
                </a:solidFill>
                <a:latin typeface="Noto Sans CJK SC"/>
              </a:defRPr>
            </a:pPr>
            <a:r>
              <a:t>• 规划 action mask + 独立安全监督 + 有界状态机</a:t>
            </a:r>
          </a:p>
          <a:p>
            <a:pPr>
              <a:spcAft>
                <a:spcPts val="800"/>
              </a:spcAft>
              <a:defRPr sz="1900">
                <a:solidFill>
                  <a:srgbClr val="1B1F23"/>
                </a:solidFill>
                <a:latin typeface="Noto Sans CJK SC"/>
              </a:defRPr>
            </a:pPr>
            <a:r>
              <a:t>• PPO、学习 detector、第二 planner、Flatland、硬件与形式安全均非完成声明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6949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356E9F"/>
                </a:solidFill>
                <a:latin typeface="Noto Sans CJK SC"/>
              </a:defRPr>
            </a:pPr>
            <a:r>
              <a:t>锁定 Test 结果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446520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0">
                <a:solidFill>
                  <a:srgbClr val="59636B"/>
                </a:solidFill>
                <a:latin typeface="Noto Sans CJK SC"/>
              </a:defRPr>
            </a:pPr>
            <a:r>
              <a:t>PGRR  |  06/30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B1F23"/>
                </a:solidFill>
                <a:latin typeface="Noto Sans CJK SC"/>
              </a:defRPr>
            </a:pPr>
            <a:r>
              <a:t>总体架构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10972800" cy="27432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50" b="1">
                <a:solidFill>
                  <a:srgbClr val="356E9F"/>
                </a:solidFill>
                <a:latin typeface="Noto Sans CJK SC"/>
              </a:defRPr>
            </a:pPr>
            <a:r>
              <a:t>训练侧可用特权规划监督，部署侧严格闭合在 LiDAR 与 Nav2 状态上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50">
                <a:solidFill>
                  <a:srgbClr val="1B1F23"/>
                </a:solidFill>
                <a:latin typeface="Noto Sans CJK SC"/>
              </a:defRPr>
            </a:pPr>
            <a:r>
              <a:t>• 观测构造 → 失败检测 → 滞回状态机</a:t>
            </a:r>
          </a:p>
          <a:p>
            <a:pPr>
              <a:spcAft>
                <a:spcPts val="800"/>
              </a:spcAft>
              <a:defRPr sz="1650">
                <a:solidFill>
                  <a:srgbClr val="1B1F23"/>
                </a:solidFill>
                <a:latin typeface="Noto Sans CJK SC"/>
              </a:defRPr>
            </a:pPr>
            <a:r>
              <a:t>• 候选动作 → action mask → 恢复策略</a:t>
            </a:r>
          </a:p>
          <a:p>
            <a:pPr>
              <a:spcAft>
                <a:spcPts val="800"/>
              </a:spcAft>
              <a:defRPr sz="1650">
                <a:solidFill>
                  <a:srgbClr val="1B1F23"/>
                </a:solidFill>
                <a:latin typeface="Noto Sans CJK SC"/>
              </a:defRPr>
            </a:pPr>
            <a:r>
              <a:t>• Goal Mux 保存原目标并发送临时子目标</a:t>
            </a:r>
          </a:p>
          <a:p>
            <a:pPr>
              <a:spcAft>
                <a:spcPts val="800"/>
              </a:spcAft>
              <a:defRPr sz="1650">
                <a:solidFill>
                  <a:srgbClr val="1B1F23"/>
                </a:solidFill>
                <a:latin typeface="Noto Sans CJK SC"/>
              </a:defRPr>
            </a:pPr>
            <a:r>
              <a:t>• DWB 执行动作，重接后恢复常态控制</a:t>
            </a:r>
          </a:p>
        </p:txBody>
      </p:sp>
      <p:pic>
        <p:nvPicPr>
          <p:cNvPr id="6" name="Picture 5" descr="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2458410"/>
            <a:ext cx="6126480" cy="280985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446520"/>
            <a:ext cx="6949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356E9F"/>
                </a:solidFill>
                <a:latin typeface="Noto Sans CJK SC"/>
              </a:defRPr>
            </a:pPr>
            <a:r>
              <a:t>锁定 Test 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46520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0">
                <a:solidFill>
                  <a:srgbClr val="59636B"/>
                </a:solidFill>
                <a:latin typeface="Noto Sans CJK SC"/>
              </a:defRPr>
            </a:pPr>
            <a:r>
              <a:t>PGRR  |  07/30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B1F23"/>
                </a:solidFill>
                <a:latin typeface="Noto Sans CJK SC"/>
              </a:defRPr>
            </a:pPr>
            <a:r>
              <a:t>正式观测与触发证据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10972800" cy="27432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50" b="1">
                <a:solidFill>
                  <a:srgbClr val="356E9F"/>
                </a:solidFill>
                <a:latin typeface="Noto Sans CJK SC"/>
              </a:defRPr>
            </a:pPr>
            <a:r>
              <a:t>部署不使用行人真值、ID 或未来轨迹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19072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B1F23"/>
                </a:solidFill>
                <a:latin typeface="Noto Sans CJK SC"/>
              </a:defRPr>
            </a:pPr>
            <a:r>
              <a:t>• 最近 5 帧 × 180 beams LiDAR</a:t>
            </a:r>
          </a:p>
          <a:p>
            <a:pPr>
              <a:spcAft>
                <a:spcPts val="800"/>
              </a:spcAft>
              <a:defRPr sz="1900">
                <a:solidFill>
                  <a:srgbClr val="1B1F23"/>
                </a:solidFill>
                <a:latin typeface="Noto Sans CJK SC"/>
              </a:defRPr>
            </a:pPr>
            <a:r>
              <a:t>• 目标极坐标与前方 8 个局部路径点</a:t>
            </a:r>
          </a:p>
          <a:p>
            <a:pPr>
              <a:spcAft>
                <a:spcPts val="800"/>
              </a:spcAft>
              <a:defRPr sz="1900">
                <a:solidFill>
                  <a:srgbClr val="1B1F23"/>
                </a:solidFill>
                <a:latin typeface="Noto Sans CJK SC"/>
              </a:defRPr>
            </a:pPr>
            <a:r>
              <a:t>• 机器人速度与 DWB 当前输出</a:t>
            </a:r>
          </a:p>
          <a:p>
            <a:pPr>
              <a:spcAft>
                <a:spcPts val="800"/>
              </a:spcAft>
              <a:defRPr sz="1900">
                <a:solidFill>
                  <a:srgbClr val="1B1F23"/>
                </a:solidFill>
                <a:latin typeface="Noto Sans CJK SC"/>
              </a:defRPr>
            </a:pPr>
            <a:r>
              <a:t>• 10 步目标进展和角速度历史</a:t>
            </a:r>
          </a:p>
          <a:p>
            <a:pPr>
              <a:spcAft>
                <a:spcPts val="800"/>
              </a:spcAft>
              <a:defRPr sz="1900">
                <a:solidFill>
                  <a:srgbClr val="1B1F23"/>
                </a:solidFill>
                <a:latin typeface="Noto Sans CJK SC"/>
              </a:defRPr>
            </a:pPr>
            <a:r>
              <a:t>• 规划器状态与规则失败分数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6949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356E9F"/>
                </a:solidFill>
                <a:latin typeface="Noto Sans CJK SC"/>
              </a:defRPr>
            </a:pPr>
            <a:r>
              <a:t>锁定 Test 结果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446520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0">
                <a:solidFill>
                  <a:srgbClr val="59636B"/>
                </a:solidFill>
                <a:latin typeface="Noto Sans CJK SC"/>
              </a:defRPr>
            </a:pPr>
            <a:r>
              <a:t>PGRR  |  08/30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B1F23"/>
                </a:solidFill>
                <a:latin typeface="Noto Sans CJK SC"/>
              </a:defRPr>
            </a:pPr>
            <a:r>
              <a:t>25 个可解释恢复动作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10972800" cy="27432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50" b="1">
                <a:solidFill>
                  <a:srgbClr val="356E9F"/>
                </a:solidFill>
                <a:latin typeface="Noto Sans CJK SC"/>
              </a:defRPr>
            </a:pPr>
            <a:r>
              <a:t>策略做高层选择，不直接输出底盘速度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50">
                <a:solidFill>
                  <a:srgbClr val="1B1F23"/>
                </a:solidFill>
                <a:latin typeface="Noto Sans CJK SC"/>
              </a:defRPr>
            </a:pPr>
            <a:r>
              <a:t>• 21 个临时子目标：3 个半径 × 7 个相对方向</a:t>
            </a:r>
          </a:p>
          <a:p>
            <a:pPr>
              <a:spcAft>
                <a:spcPts val="800"/>
              </a:spcAft>
              <a:defRPr sz="1650">
                <a:solidFill>
                  <a:srgbClr val="1B1F23"/>
                </a:solidFill>
                <a:latin typeface="Noto Sans CJK SC"/>
              </a:defRPr>
            </a:pPr>
            <a:r>
              <a:t>• 4 个行为：WAIT、BACKUP、REPLAN、CONTINUE</a:t>
            </a:r>
          </a:p>
          <a:p>
            <a:pPr>
              <a:spcAft>
                <a:spcPts val="800"/>
              </a:spcAft>
              <a:defRPr sz="1650">
                <a:solidFill>
                  <a:srgbClr val="1B1F23"/>
                </a:solidFill>
                <a:latin typeface="Noto Sans CJK SC"/>
              </a:defRPr>
            </a:pPr>
            <a:r>
              <a:t>• 临时目标仍由 DWB 跟踪</a:t>
            </a:r>
          </a:p>
          <a:p>
            <a:pPr>
              <a:spcAft>
                <a:spcPts val="800"/>
              </a:spcAft>
              <a:defRPr sz="1650">
                <a:solidFill>
                  <a:srgbClr val="1B1F23"/>
                </a:solidFill>
                <a:latin typeface="Noto Sans CJK SC"/>
              </a:defRPr>
            </a:pPr>
            <a:r>
              <a:t>• 动作 ID 固定，训练、导出和 ROS 推理一致</a:t>
            </a:r>
          </a:p>
        </p:txBody>
      </p:sp>
      <p:pic>
        <p:nvPicPr>
          <p:cNvPr id="6" name="Picture 5" descr="action_space_expe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2331720"/>
            <a:ext cx="6126480" cy="3063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446520"/>
            <a:ext cx="6949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356E9F"/>
                </a:solidFill>
                <a:latin typeface="Noto Sans CJK SC"/>
              </a:defRPr>
            </a:pPr>
            <a:r>
              <a:t>锁定 Test 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46520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0">
                <a:solidFill>
                  <a:srgbClr val="59636B"/>
                </a:solidFill>
                <a:latin typeface="Noto Sans CJK SC"/>
              </a:defRPr>
            </a:pPr>
            <a:r>
              <a:t>PGRR  |  09/30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B1F23"/>
                </a:solidFill>
                <a:latin typeface="Noto Sans CJK SC"/>
              </a:defRPr>
            </a:pPr>
            <a:r>
              <a:t>Action Mask：先排除不可执行动作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10972800" cy="27432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50" b="1">
                <a:solidFill>
                  <a:srgbClr val="356E9F"/>
                </a:solidFill>
                <a:latin typeface="Noto Sans CJK SC"/>
              </a:defRPr>
            </a:pPr>
            <a:r>
              <a:t>策略只能在物理和规划上可行的候选集合内选择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19072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B1F23"/>
                </a:solidFill>
                <a:latin typeface="Noto Sans CJK SC"/>
              </a:defRPr>
            </a:pPr>
            <a:r>
              <a:t>• 障碍内、地图外、局部不可达或不连通子目标被屏蔽</a:t>
            </a:r>
          </a:p>
          <a:p>
            <a:pPr>
              <a:spcAft>
                <a:spcPts val="800"/>
              </a:spcAft>
              <a:defRPr sz="1900">
                <a:solidFill>
                  <a:srgbClr val="1B1F23"/>
                </a:solidFill>
                <a:latin typeface="Noto Sans CJK SC"/>
              </a:defRPr>
            </a:pPr>
            <a:r>
              <a:t>• 明显进入动态占据区的子目标被屏蔽</a:t>
            </a:r>
          </a:p>
          <a:p>
            <a:pPr>
              <a:spcAft>
                <a:spcPts val="800"/>
              </a:spcAft>
              <a:defRPr sz="1900">
                <a:solidFill>
                  <a:srgbClr val="1B1F23"/>
                </a:solidFill>
                <a:latin typeface="Noto Sans CJK SC"/>
              </a:defRPr>
            </a:pPr>
            <a:r>
              <a:t>• 后方净空不足时禁止 BACKUP</a:t>
            </a:r>
          </a:p>
          <a:p>
            <a:pPr>
              <a:spcAft>
                <a:spcPts val="800"/>
              </a:spcAft>
              <a:defRPr sz="1900">
                <a:solidFill>
                  <a:srgbClr val="1B1F23"/>
                </a:solidFill>
                <a:latin typeface="Noto Sans CJK SC"/>
              </a:defRPr>
            </a:pPr>
            <a:r>
              <a:t>• 规划接口不可用时禁止 REPLAN</a:t>
            </a:r>
          </a:p>
          <a:p>
            <a:pPr>
              <a:spcAft>
                <a:spcPts val="800"/>
              </a:spcAft>
              <a:defRPr sz="1900">
                <a:solidFill>
                  <a:srgbClr val="1B1F23"/>
                </a:solidFill>
                <a:latin typeface="Noto Sans CJK SC"/>
              </a:defRPr>
            </a:pPr>
            <a:r>
              <a:t>• masked invalid action rate 在部署中必须为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6949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356E9F"/>
                </a:solidFill>
                <a:latin typeface="Noto Sans CJK SC"/>
              </a:defRPr>
            </a:pPr>
            <a:r>
              <a:t>锁定 Test 结果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446520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0">
                <a:solidFill>
                  <a:srgbClr val="59636B"/>
                </a:solidFill>
                <a:latin typeface="Noto Sans CJK SC"/>
              </a:defRPr>
            </a:pPr>
            <a:r>
              <a:t>PGRR  |  10/30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B1F23"/>
                </a:solidFill>
                <a:latin typeface="Noto Sans CJK SC"/>
              </a:defRPr>
            </a:pPr>
            <a:r>
              <a:t>独立安全监督器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10972800" cy="27432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50" b="1">
                <a:solidFill>
                  <a:srgbClr val="356E9F"/>
                </a:solidFill>
                <a:latin typeface="Noto Sans CJK SC"/>
              </a:defRPr>
            </a:pPr>
            <a:r>
              <a:t>学习决策永远不能覆盖紧急停止优先级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19072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B1F23"/>
                </a:solidFill>
                <a:latin typeface="Noto Sans CJK SC"/>
              </a:defRPr>
            </a:pPr>
            <a:r>
              <a:t>• 停止距离 = 制动距离 + 延迟距离 + margin</a:t>
            </a:r>
          </a:p>
          <a:p>
            <a:pPr>
              <a:spcAft>
                <a:spcPts val="800"/>
              </a:spcAft>
              <a:defRPr sz="1900">
                <a:solidFill>
                  <a:srgbClr val="1B1F23"/>
                </a:solidFill>
                <a:latin typeface="Noto Sans CJK SC"/>
              </a:defRPr>
            </a:pPr>
            <a:r>
              <a:t>• 窄前向区域保留即时硬防护</a:t>
            </a:r>
          </a:p>
          <a:p>
            <a:pPr>
              <a:spcAft>
                <a:spcPts val="800"/>
              </a:spcAft>
              <a:defRPr sz="1900">
                <a:solidFill>
                  <a:srgbClr val="1B1F23"/>
                </a:solidFill>
                <a:latin typeface="Noto Sans CJK SC"/>
              </a:defRPr>
            </a:pPr>
            <a:r>
              <a:t>• 偏轴风险需要时间一致的闭合证据</a:t>
            </a:r>
          </a:p>
          <a:p>
            <a:pPr>
              <a:spcAft>
                <a:spcPts val="800"/>
              </a:spcAft>
              <a:defRPr sz="1900">
                <a:solidFill>
                  <a:srgbClr val="1B1F23"/>
                </a:solidFill>
                <a:latin typeface="Noto Sans CJK SC"/>
              </a:defRPr>
            </a:pPr>
            <a:r>
              <a:t>• 旋转净空与平移足迹停止距离分离</a:t>
            </a:r>
          </a:p>
          <a:p>
            <a:pPr>
              <a:spcAft>
                <a:spcPts val="800"/>
              </a:spcAft>
              <a:defRPr sz="1900">
                <a:solidFill>
                  <a:srgbClr val="1B1F23"/>
                </a:solidFill>
                <a:latin typeface="Noto Sans CJK SC"/>
              </a:defRPr>
            </a:pPr>
            <a:r>
              <a:t>• 所有 emergency intervention 单独记录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6949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356E9F"/>
                </a:solidFill>
                <a:latin typeface="Noto Sans CJK SC"/>
              </a:defRPr>
            </a:pPr>
            <a:r>
              <a:t>锁定 Test 结果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446520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0">
                <a:solidFill>
                  <a:srgbClr val="59636B"/>
                </a:solidFill>
                <a:latin typeface="Noto Sans CJK SC"/>
              </a:defRPr>
            </a:pPr>
            <a:r>
              <a:t>PGRR  |  11/30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B1F23"/>
                </a:solidFill>
                <a:latin typeface="Noto Sans CJK SC"/>
              </a:defRPr>
            </a:pPr>
            <a:r>
              <a:t>有界恢复状态机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10972800" cy="27432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50" b="1">
                <a:solidFill>
                  <a:srgbClr val="356E9F"/>
                </a:solidFill>
                <a:latin typeface="Noto Sans CJK SC"/>
              </a:defRPr>
            </a:pPr>
            <a:r>
              <a:t>滞回、cooldown、动作保持、重接和最大尝试共同抑制抖动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50">
                <a:solidFill>
                  <a:srgbClr val="1B1F23"/>
                </a:solidFill>
                <a:latin typeface="Noto Sans CJK SC"/>
              </a:defRPr>
            </a:pPr>
            <a:r>
              <a:t>• NORMAL → PENDING → RECOVERY → REJOIN</a:t>
            </a:r>
          </a:p>
          <a:p>
            <a:pPr>
              <a:spcAft>
                <a:spcPts val="800"/>
              </a:spcAft>
              <a:defRPr sz="1650">
                <a:solidFill>
                  <a:srgbClr val="1B1F23"/>
                </a:solidFill>
                <a:latin typeface="Noto Sans CJK SC"/>
              </a:defRPr>
            </a:pPr>
            <a:r>
              <a:t>• 原目标在进入恢复时保存，临时目标结束后恢复</a:t>
            </a:r>
          </a:p>
          <a:p>
            <a:pPr>
              <a:spcAft>
                <a:spcPts val="800"/>
              </a:spcAft>
              <a:defRPr sz="1650">
                <a:solidFill>
                  <a:srgbClr val="1B1F23"/>
                </a:solidFill>
                <a:latin typeface="Noto Sans CJK SC"/>
              </a:defRPr>
            </a:pPr>
            <a:r>
              <a:t>• REJOIN 只有重新产生原目标进展后才返回 NORMAL</a:t>
            </a:r>
          </a:p>
          <a:p>
            <a:pPr>
              <a:spcAft>
                <a:spcPts val="800"/>
              </a:spcAft>
              <a:defRPr sz="1650">
                <a:solidFill>
                  <a:srgbClr val="1B1F23"/>
                </a:solidFill>
                <a:latin typeface="Noto Sans CJK SC"/>
              </a:defRPr>
            </a:pPr>
            <a:r>
              <a:t>• EMERGENCY STOP 可从任意执行状态抢占</a:t>
            </a:r>
          </a:p>
          <a:p>
            <a:pPr>
              <a:spcAft>
                <a:spcPts val="800"/>
              </a:spcAft>
              <a:defRPr sz="1650">
                <a:solidFill>
                  <a:srgbClr val="1B1F23"/>
                </a:solidFill>
                <a:latin typeface="Noto Sans CJK SC"/>
              </a:defRPr>
            </a:pPr>
            <a:r>
              <a:t>• 超时和连续失败进入明确终止状态</a:t>
            </a:r>
          </a:p>
        </p:txBody>
      </p:sp>
      <p:pic>
        <p:nvPicPr>
          <p:cNvPr id="6" name="Picture 5" descr="recovery_state_mach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2041115"/>
            <a:ext cx="6126480" cy="3644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446520"/>
            <a:ext cx="6949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356E9F"/>
                </a:solidFill>
                <a:latin typeface="Noto Sans CJK SC"/>
              </a:defRPr>
            </a:pPr>
            <a:r>
              <a:t>锁定 Test 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46520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0">
                <a:solidFill>
                  <a:srgbClr val="59636B"/>
                </a:solidFill>
                <a:latin typeface="Noto Sans CJK SC"/>
              </a:defRPr>
            </a:pPr>
            <a:r>
              <a:t>PGRR  |  12/30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B1F23"/>
                </a:solidFill>
                <a:latin typeface="Noto Sans CJK SC"/>
              </a:defRPr>
            </a:pPr>
            <a:r>
              <a:t>特权短时域规划专家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10972800" cy="27432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50" b="1">
                <a:solidFill>
                  <a:srgbClr val="356E9F"/>
                </a:solidFill>
                <a:latin typeface="Noto Sans CJK SC"/>
              </a:defRPr>
            </a:pPr>
            <a:r>
              <a:t>用未来短窗口比较所有合法恢复动作，而不是人工逐帧标注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50">
                <a:solidFill>
                  <a:srgbClr val="1B1F23"/>
                </a:solidFill>
                <a:latin typeface="Noto Sans CJK SC"/>
              </a:defRPr>
            </a:pPr>
            <a:r>
              <a:t>• 读取机器人、地图、行人位置速度和短时预测</a:t>
            </a:r>
          </a:p>
          <a:p>
            <a:pPr>
              <a:spcAft>
                <a:spcPts val="800"/>
              </a:spcAft>
              <a:defRPr sz="1650">
                <a:solidFill>
                  <a:srgbClr val="1B1F23"/>
                </a:solidFill>
                <a:latin typeface="Noto Sans CJK SC"/>
              </a:defRPr>
            </a:pPr>
            <a:r>
              <a:t>• 对每个合法候选进行差速运动学 rollout</a:t>
            </a:r>
          </a:p>
          <a:p>
            <a:pPr>
              <a:spcAft>
                <a:spcPts val="800"/>
              </a:spcAft>
              <a:defRPr sz="1650">
                <a:solidFill>
                  <a:srgbClr val="1B1F23"/>
                </a:solidFill>
                <a:latin typeface="Noto Sans CJK SC"/>
              </a:defRPr>
            </a:pPr>
            <a:r>
              <a:t>• 联合计算碰撞、进展、社会距离、重接、平滑与时间成本</a:t>
            </a:r>
          </a:p>
          <a:p>
            <a:pPr>
              <a:spcAft>
                <a:spcPts val="800"/>
              </a:spcAft>
              <a:defRPr sz="1650">
                <a:solidFill>
                  <a:srgbClr val="1B1F23"/>
                </a:solidFill>
                <a:latin typeface="Noto Sans CJK SC"/>
              </a:defRPr>
            </a:pPr>
            <a:r>
              <a:t>• 输出最优动作、25 维代价、mask 和 margin</a:t>
            </a:r>
          </a:p>
          <a:p>
            <a:pPr>
              <a:spcAft>
                <a:spcPts val="800"/>
              </a:spcAft>
              <a:defRPr sz="1650">
                <a:solidFill>
                  <a:srgbClr val="1B1F23"/>
                </a:solidFill>
                <a:latin typeface="Noto Sans CJK SC"/>
              </a:defRPr>
            </a:pPr>
            <a:r>
              <a:t>• 专家只用于训练与 Oracle 分析</a:t>
            </a:r>
          </a:p>
        </p:txBody>
      </p:sp>
      <p:pic>
        <p:nvPicPr>
          <p:cNvPr id="6" name="Picture 5" descr="action_space_expe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2331720"/>
            <a:ext cx="6126480" cy="3063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446520"/>
            <a:ext cx="6949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356E9F"/>
                </a:solidFill>
                <a:latin typeface="Noto Sans CJK SC"/>
              </a:defRPr>
            </a:pPr>
            <a:r>
              <a:t>锁定 Test 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46520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0">
                <a:solidFill>
                  <a:srgbClr val="59636B"/>
                </a:solidFill>
                <a:latin typeface="Noto Sans CJK SC"/>
              </a:defRPr>
            </a:pPr>
            <a:r>
              <a:t>PGRR  |  13/30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B1F23"/>
                </a:solidFill>
                <a:latin typeface="Noto Sans CJK SC"/>
              </a:defRPr>
            </a:pPr>
            <a:r>
              <a:t>Behavior Cloning 与两轮 DAgger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10972800" cy="27432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50" b="1">
                <a:solidFill>
                  <a:srgbClr val="356E9F"/>
                </a:solidFill>
                <a:latin typeface="Noto Sans CJK SC"/>
              </a:defRPr>
            </a:pPr>
            <a:r>
              <a:t>DAgger 专门补充当前策略会访问、原始示范不足的恢复状态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19072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B1F23"/>
                </a:solidFill>
                <a:latin typeface="Noto Sans CJK SC"/>
              </a:defRPr>
            </a:pPr>
            <a:r>
              <a:t>• LiDAR 1D CNN + 导航状态 MLP → 25 logits</a:t>
            </a:r>
          </a:p>
          <a:p>
            <a:pPr>
              <a:spcAft>
                <a:spcPts val="800"/>
              </a:spcAft>
              <a:defRPr sz="1900">
                <a:solidFill>
                  <a:srgbClr val="1B1F23"/>
                </a:solidFill>
                <a:latin typeface="Noto Sans CJK SC"/>
              </a:defRPr>
            </a:pPr>
            <a:r>
              <a:t>• 训练先完成 Uniform BC</a:t>
            </a:r>
          </a:p>
          <a:p>
            <a:pPr>
              <a:spcAft>
                <a:spcPts val="800"/>
              </a:spcAft>
              <a:defRPr sz="1900">
                <a:solidFill>
                  <a:srgbClr val="1B1F23"/>
                </a:solidFill>
                <a:latin typeface="Noto Sans CJK SC"/>
              </a:defRPr>
            </a:pPr>
            <a:r>
              <a:t>• 每轮在 train split 闭环运行并由专家重新标注</a:t>
            </a:r>
          </a:p>
          <a:p>
            <a:pPr>
              <a:spcAft>
                <a:spcPts val="800"/>
              </a:spcAft>
              <a:defRPr sz="1900">
                <a:solidFill>
                  <a:srgbClr val="1B1F23"/>
                </a:solidFill>
                <a:latin typeface="Noto Sans CJK SC"/>
              </a:defRPr>
            </a:pPr>
            <a:r>
              <a:t>• 聚合数据后只在固定 validation 上选择 checkpoint</a:t>
            </a:r>
          </a:p>
          <a:p>
            <a:pPr>
              <a:spcAft>
                <a:spcPts val="800"/>
              </a:spcAft>
              <a:defRPr sz="1900">
                <a:solidFill>
                  <a:srgbClr val="1B1F23"/>
                </a:solidFill>
                <a:latin typeface="Noto Sans CJK SC"/>
              </a:defRPr>
            </a:pPr>
            <a:r>
              <a:t>• 未选中的第二轮候选和 margin 负面结果继续保留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6949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356E9F"/>
                </a:solidFill>
                <a:latin typeface="Noto Sans CJK SC"/>
              </a:defRPr>
            </a:pPr>
            <a:r>
              <a:t>锁定 Test 结果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446520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0">
                <a:solidFill>
                  <a:srgbClr val="59636B"/>
                </a:solidFill>
                <a:latin typeface="Noto Sans CJK SC"/>
              </a:defRPr>
            </a:pPr>
            <a:r>
              <a:t>PGRR  |  14/30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B1F23"/>
                </a:solidFill>
                <a:latin typeface="Noto Sans CJK SC"/>
              </a:defRPr>
            </a:pPr>
            <a:r>
              <a:t>训练—部署信息隔离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10972800" cy="27432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50" b="1">
                <a:solidFill>
                  <a:srgbClr val="356E9F"/>
                </a:solidFill>
                <a:latin typeface="Noto Sans CJK SC"/>
              </a:defRPr>
            </a:pPr>
            <a:r>
              <a:t>强监督可以来自仿真真值，但部署接口必须保持可观测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50">
                <a:solidFill>
                  <a:srgbClr val="1B1F23"/>
                </a:solidFill>
                <a:latin typeface="Noto Sans CJK SC"/>
              </a:defRPr>
            </a:pPr>
            <a:r>
              <a:t>• privileged humans / future outcomes 只存在数据与专家侧</a:t>
            </a:r>
          </a:p>
          <a:p>
            <a:pPr>
              <a:spcAft>
                <a:spcPts val="800"/>
              </a:spcAft>
              <a:defRPr sz="1650">
                <a:solidFill>
                  <a:srgbClr val="1B1F23"/>
                </a:solidFill>
                <a:latin typeface="Noto Sans CJK SC"/>
              </a:defRPr>
            </a:pPr>
            <a:r>
              <a:t>• 导出模型不包含真值行人张量</a:t>
            </a:r>
          </a:p>
          <a:p>
            <a:pPr>
              <a:spcAft>
                <a:spcPts val="800"/>
              </a:spcAft>
              <a:defRPr sz="1650">
                <a:solidFill>
                  <a:srgbClr val="1B1F23"/>
                </a:solidFill>
                <a:latin typeface="Noto Sans CJK SC"/>
              </a:defRPr>
            </a:pPr>
            <a:r>
              <a:t>• ROS 推理节点只接收标准化正式观测和 mask</a:t>
            </a:r>
          </a:p>
          <a:p>
            <a:pPr>
              <a:spcAft>
                <a:spcPts val="800"/>
              </a:spcAft>
              <a:defRPr sz="1650">
                <a:solidFill>
                  <a:srgbClr val="1B1F23"/>
                </a:solidFill>
                <a:latin typeface="Noto Sans CJK SC"/>
              </a:defRPr>
            </a:pPr>
            <a:r>
              <a:t>• schema、checkpoint manifest 与接口测试共同检查泄漏</a:t>
            </a:r>
          </a:p>
        </p:txBody>
      </p:sp>
      <p:pic>
        <p:nvPicPr>
          <p:cNvPr id="6" name="Picture 5" descr="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2458410"/>
            <a:ext cx="6126480" cy="280985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446520"/>
            <a:ext cx="6949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356E9F"/>
                </a:solidFill>
                <a:latin typeface="Noto Sans CJK SC"/>
              </a:defRPr>
            </a:pPr>
            <a:r>
              <a:t>锁定 Test 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46520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0">
                <a:solidFill>
                  <a:srgbClr val="59636B"/>
                </a:solidFill>
                <a:latin typeface="Noto Sans CJK SC"/>
              </a:defRPr>
            </a:pPr>
            <a:r>
              <a:t>PGRR  |  15/30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B1F23"/>
                </a:solidFill>
                <a:latin typeface="Noto Sans CJK SC"/>
              </a:defRPr>
            </a:pPr>
            <a:r>
              <a:t>真实 Arena/Gazebo 运行证据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10972800" cy="27432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50" b="1">
                <a:solidFill>
                  <a:srgbClr val="356E9F"/>
                </a:solidFill>
                <a:latin typeface="Noto Sans CJK SC"/>
              </a:defRPr>
            </a:pPr>
            <a:r>
              <a:t>不是概念图：Jackal、动态行人、静态瓶颈和 Nav2 在同一 episode 实际运行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50">
                <a:solidFill>
                  <a:srgbClr val="1B1F23"/>
                </a:solidFill>
                <a:latin typeface="Noto Sans CJK SC"/>
              </a:defRPr>
            </a:pPr>
            <a:r>
              <a:t>• 环境：Ubuntu 22.04 / ROS2 Humble / Arena Gazebo</a:t>
            </a:r>
          </a:p>
          <a:p>
            <a:pPr>
              <a:spcAft>
                <a:spcPts val="800"/>
              </a:spcAft>
              <a:defRPr sz="1650">
                <a:solidFill>
                  <a:srgbClr val="1B1F23"/>
                </a:solidFill>
                <a:latin typeface="Noto Sans CJK SC"/>
              </a:defRPr>
            </a:pPr>
            <a:r>
              <a:t>• 机器人与感知：Jackal / Nav2 DWB / 平面 LiDAR</a:t>
            </a:r>
          </a:p>
          <a:p>
            <a:pPr>
              <a:spcAft>
                <a:spcPts val="800"/>
              </a:spcAft>
              <a:defRPr sz="1650">
                <a:solidFill>
                  <a:srgbClr val="1B1F23"/>
                </a:solidFill>
                <a:latin typeface="Noto Sans CJK SC"/>
              </a:defRPr>
            </a:pPr>
            <a:r>
              <a:t>• 冻结 v5 演示：doorway_bottleneck / medium / validation</a:t>
            </a:r>
          </a:p>
          <a:p>
            <a:pPr>
              <a:spcAft>
                <a:spcPts val="800"/>
              </a:spcAft>
              <a:defRPr sz="1650">
                <a:solidFill>
                  <a:srgbClr val="1B1F23"/>
                </a:solidFill>
                <a:latin typeface="Noto Sans CJK SC"/>
              </a:defRPr>
            </a:pPr>
            <a:r>
              <a:t>• episode ID：runtime_capture_gazebo_doorway_bottleneck_medium_20260806T054015Z_3875172；pixel SHA256：5313957c3032</a:t>
            </a:r>
          </a:p>
          <a:p>
            <a:pPr>
              <a:spcAft>
                <a:spcPts val="800"/>
              </a:spcAft>
              <a:defRPr sz="1650">
                <a:solidFill>
                  <a:srgbClr val="1B1F23"/>
                </a:solidFill>
                <a:latin typeface="Noto Sans CJK SC"/>
              </a:defRPr>
            </a:pPr>
            <a:r>
              <a:t>• 它不是锁定 v6 统计回合的 camera frame，也不替代定量实验</a:t>
            </a:r>
          </a:p>
        </p:txBody>
      </p:sp>
      <p:pic>
        <p:nvPicPr>
          <p:cNvPr id="6" name="Picture 5" descr="runtime_gazebo_doorway_bottleneck_medi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927" y="1600200"/>
            <a:ext cx="5356544" cy="4526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446520"/>
            <a:ext cx="6949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356E9F"/>
                </a:solidFill>
                <a:latin typeface="Noto Sans CJK SC"/>
              </a:defRPr>
            </a:pPr>
            <a:r>
              <a:t>锁定 Test 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46520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0">
                <a:solidFill>
                  <a:srgbClr val="59636B"/>
                </a:solidFill>
                <a:latin typeface="Noto Sans CJK SC"/>
              </a:defRPr>
            </a:pPr>
            <a:r>
              <a:t>PGRR  |  16/30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B1F23"/>
                </a:solidFill>
                <a:latin typeface="Noto Sans CJK SC"/>
              </a:defRPr>
            </a:pPr>
            <a:r>
              <a:t>八类场景 × 三档密度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10972800" cy="27432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50" b="1">
                <a:solidFill>
                  <a:srgbClr val="356E9F"/>
                </a:solidFill>
                <a:latin typeface="Noto Sans CJK SC"/>
              </a:defRPr>
            </a:pPr>
            <a:r>
              <a:t>从正面对向到临时封堵，覆盖不同动态交互结构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50">
                <a:solidFill>
                  <a:srgbClr val="1B1F23"/>
                </a:solidFill>
                <a:latin typeface="Noto Sans CJK SC"/>
              </a:defRPr>
            </a:pPr>
            <a:r>
              <a:t>• head-on、doorway、crossing、blind corner</a:t>
            </a:r>
          </a:p>
          <a:p>
            <a:pPr>
              <a:spcAft>
                <a:spcPts val="800"/>
              </a:spcAft>
              <a:defRPr sz="1650">
                <a:solidFill>
                  <a:srgbClr val="1B1F23"/>
                </a:solidFill>
                <a:latin typeface="Noto Sans CJK SC"/>
              </a:defRPr>
            </a:pPr>
            <a:r>
              <a:t>• group blocking、overtaking、opposite streams、temporary blockage</a:t>
            </a:r>
          </a:p>
          <a:p>
            <a:pPr>
              <a:spcAft>
                <a:spcPts val="800"/>
              </a:spcAft>
              <a:defRPr sz="1650">
                <a:solidFill>
                  <a:srgbClr val="1B1F23"/>
                </a:solidFill>
                <a:latin typeface="Noto Sans CJK SC"/>
              </a:defRPr>
            </a:pPr>
            <a:r>
              <a:t>• 每类 low / medium / high</a:t>
            </a:r>
          </a:p>
          <a:p>
            <a:pPr>
              <a:spcAft>
                <a:spcPts val="800"/>
              </a:spcAft>
              <a:defRPr sz="1650">
                <a:solidFill>
                  <a:srgbClr val="1B1F23"/>
                </a:solidFill>
                <a:latin typeface="Noto Sans CJK SC"/>
              </a:defRPr>
            </a:pPr>
            <a:r>
              <a:t>• 地图、起终点、行人路线和 seed 写入 manifest</a:t>
            </a:r>
          </a:p>
        </p:txBody>
      </p:sp>
      <p:pic>
        <p:nvPicPr>
          <p:cNvPr id="6" name="Picture 5" descr="scenario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2357609"/>
            <a:ext cx="6126480" cy="30114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446520"/>
            <a:ext cx="6949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356E9F"/>
                </a:solidFill>
                <a:latin typeface="Noto Sans CJK SC"/>
              </a:defRPr>
            </a:pPr>
            <a:r>
              <a:t>锁定 Test 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46520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0">
                <a:solidFill>
                  <a:srgbClr val="59636B"/>
                </a:solidFill>
                <a:latin typeface="Noto Sans CJK SC"/>
              </a:defRPr>
            </a:pPr>
            <a:r>
              <a:t>PGRR  |  17/30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B1F23"/>
                </a:solidFill>
                <a:latin typeface="Noto Sans CJK SC"/>
              </a:defRPr>
            </a:pPr>
            <a:r>
              <a:t>Split、规模与锁定规则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10972800" cy="27432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50" b="1">
                <a:solidFill>
                  <a:srgbClr val="356E9F"/>
                </a:solidFill>
                <a:latin typeface="Noto Sans CJK SC"/>
              </a:defRPr>
            </a:pPr>
            <a:r>
              <a:t>validation 用于选择，test 只在代码、配置和 checkpoint 冻结后打开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19072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B1F23"/>
                </a:solidFill>
                <a:latin typeface="Noto Sans CJK SC"/>
              </a:defRPr>
            </a:pPr>
            <a:r>
              <a:t>• moderate-v6：Train / validation / test 使用不相交 seed 和 scenario ID</a:t>
            </a:r>
          </a:p>
          <a:p>
            <a:pPr>
              <a:spcAft>
                <a:spcPts val="800"/>
              </a:spcAft>
              <a:defRPr sz="1900">
                <a:solidFill>
                  <a:srgbClr val="1B1F23"/>
                </a:solidFill>
                <a:latin typeface="Noto Sans CJK SC"/>
              </a:defRPr>
            </a:pPr>
            <a:r>
              <a:t>• v5 Base validation 57/72，超过 75% ceiling，故 rejected 且 test 未打开</a:t>
            </a:r>
          </a:p>
          <a:p>
            <a:pPr>
              <a:spcAft>
                <a:spcPts val="800"/>
              </a:spcAft>
              <a:defRPr sz="1900">
                <a:solidFill>
                  <a:srgbClr val="1B1F23"/>
                </a:solidFill>
                <a:latin typeface="Noto Sans CJK SC"/>
              </a:defRPr>
            </a:pPr>
            <a:r>
              <a:t>• Validation：72 条件 × 5 方法 = 360 method-episodes</a:t>
            </a:r>
          </a:p>
          <a:p>
            <a:pPr>
              <a:spcAft>
                <a:spcPts val="800"/>
              </a:spcAft>
              <a:defRPr sz="1900">
                <a:solidFill>
                  <a:srgbClr val="1B1F23"/>
                </a:solidFill>
                <a:latin typeface="Noto Sans CJK SC"/>
              </a:defRPr>
            </a:pPr>
            <a:r>
              <a:t>• 锁定 Test：120 条件 × 5 方法 = 600 method-episodes</a:t>
            </a:r>
          </a:p>
          <a:p>
            <a:pPr>
              <a:spcAft>
                <a:spcPts val="800"/>
              </a:spcAft>
              <a:defRPr sz="1900">
                <a:solidFill>
                  <a:srgbClr val="1B1F23"/>
                </a:solidFill>
                <a:latin typeface="Noto Sans CJK SC"/>
              </a:defRPr>
            </a:pPr>
            <a:r>
              <a:t>• 同一 pair 的场景、地图、seed 和行人配置跨方法一致</a:t>
            </a:r>
          </a:p>
          <a:p>
            <a:pPr>
              <a:spcAft>
                <a:spcPts val="800"/>
              </a:spcAft>
              <a:defRPr sz="1900">
                <a:solidFill>
                  <a:srgbClr val="1B1F23"/>
                </a:solidFill>
                <a:latin typeface="Noto Sans CJK SC"/>
              </a:defRPr>
            </a:pPr>
            <a:r>
              <a:t>• test 结果不能反向调参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6949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356E9F"/>
                </a:solidFill>
                <a:latin typeface="Noto Sans CJK SC"/>
              </a:defRPr>
            </a:pPr>
            <a:r>
              <a:t>锁定 Test 结果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446520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0">
                <a:solidFill>
                  <a:srgbClr val="59636B"/>
                </a:solidFill>
                <a:latin typeface="Noto Sans CJK SC"/>
              </a:defRPr>
            </a:pPr>
            <a:r>
              <a:t>PGRR  |  18/30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B1F23"/>
                </a:solidFill>
                <a:latin typeface="Noto Sans CJK SC"/>
              </a:defRPr>
            </a:pPr>
            <a:r>
              <a:t>五种闭环对比方法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10972800" cy="27432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50" b="1">
                <a:solidFill>
                  <a:srgbClr val="356E9F"/>
                </a:solidFill>
                <a:latin typeface="Noto Sans CJK SC"/>
              </a:defRPr>
            </a:pPr>
            <a:r>
              <a:t>从纯经典基线到训练分布聚合，逐级增加恢复能力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19072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B1F23"/>
                </a:solidFill>
                <a:latin typeface="Noto Sans CJK SC"/>
              </a:defRPr>
            </a:pPr>
            <a:r>
              <a:t>• DWB：无 PGRR 恢复层</a:t>
            </a:r>
          </a:p>
          <a:p>
            <a:pPr>
              <a:spcAft>
                <a:spcPts val="800"/>
              </a:spcAft>
              <a:defRPr sz="1900">
                <a:solidFill>
                  <a:srgbClr val="1B1F23"/>
                </a:solidFill>
                <a:latin typeface="Noto Sans CJK SC"/>
              </a:defRPr>
            </a:pPr>
            <a:r>
              <a:t>• Standard：导航栈标准恢复</a:t>
            </a:r>
          </a:p>
          <a:p>
            <a:pPr>
              <a:spcAft>
                <a:spcPts val="800"/>
              </a:spcAft>
              <a:defRPr sz="1900">
                <a:solidFill>
                  <a:srgbClr val="1B1F23"/>
                </a:solidFill>
                <a:latin typeface="Noto Sans CJK SC"/>
              </a:defRPr>
            </a:pPr>
            <a:r>
              <a:t>• Heuristic：规则触发 + 手工动作</a:t>
            </a:r>
          </a:p>
          <a:p>
            <a:pPr>
              <a:spcAft>
                <a:spcPts val="800"/>
              </a:spcAft>
              <a:defRPr sz="1900">
                <a:solidFill>
                  <a:srgbClr val="1B1F23"/>
                </a:solidFill>
                <a:latin typeface="Noto Sans CJK SC"/>
              </a:defRPr>
            </a:pPr>
            <a:r>
              <a:t>• Uniform BC：相同观测、动作和 mask 的行为克隆</a:t>
            </a:r>
          </a:p>
          <a:p>
            <a:pPr>
              <a:spcAft>
                <a:spcPts val="800"/>
              </a:spcAft>
              <a:defRPr sz="1900">
                <a:solidFill>
                  <a:srgbClr val="1B1F23"/>
                </a:solidFill>
                <a:latin typeface="Noto Sans CJK SC"/>
              </a:defRPr>
            </a:pPr>
            <a:r>
              <a:t>• PGRR：选定 DAgger checkpoint + 有界恢复闭环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6949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356E9F"/>
                </a:solidFill>
                <a:latin typeface="Noto Sans CJK SC"/>
              </a:defRPr>
            </a:pPr>
            <a:r>
              <a:t>锁定 Test 结果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446520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0">
                <a:solidFill>
                  <a:srgbClr val="59636B"/>
                </a:solidFill>
                <a:latin typeface="Noto Sans CJK SC"/>
              </a:defRPr>
            </a:pPr>
            <a:r>
              <a:t>PGRR  |  19/30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B1F23"/>
                </a:solidFill>
                <a:latin typeface="Noto Sans CJK SC"/>
              </a:defRPr>
            </a:pPr>
            <a:r>
              <a:t>指标与统计协议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10972800" cy="27432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50" b="1">
                <a:solidFill>
                  <a:srgbClr val="356E9F"/>
                </a:solidFill>
                <a:latin typeface="Noto Sans CJK SC"/>
              </a:defRPr>
            </a:pPr>
            <a:r>
              <a:t>一个方法不能靠永远 WAIT 获得虚假安全优势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19072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B1F23"/>
                </a:solidFill>
                <a:latin typeface="Noto Sans CJK SC"/>
              </a:defRPr>
            </a:pPr>
            <a:r>
              <a:t>• 终止：到达、碰撞、超时、规划失败</a:t>
            </a:r>
          </a:p>
          <a:p>
            <a:pPr>
              <a:spcAft>
                <a:spcPts val="800"/>
              </a:spcAft>
              <a:defRPr sz="1900">
                <a:solidFill>
                  <a:srgbClr val="1B1F23"/>
                </a:solidFill>
                <a:latin typeface="Noto Sans CJK SC"/>
              </a:defRPr>
            </a:pPr>
            <a:r>
              <a:t>• 效率：SPL、路径长度、导航时间</a:t>
            </a:r>
          </a:p>
          <a:p>
            <a:pPr>
              <a:spcAft>
                <a:spcPts val="800"/>
              </a:spcAft>
              <a:defRPr sz="1900">
                <a:solidFill>
                  <a:srgbClr val="1B1F23"/>
                </a:solidFill>
                <a:latin typeface="Noto Sans CJK SC"/>
              </a:defRPr>
            </a:pPr>
            <a:r>
              <a:t>• 安全：最小人距、个人空间侵入、不舒适时间、紧急停止</a:t>
            </a:r>
          </a:p>
          <a:p>
            <a:pPr>
              <a:spcAft>
                <a:spcPts val="800"/>
              </a:spcAft>
              <a:defRPr sz="1900">
                <a:solidFill>
                  <a:srgbClr val="1B1F23"/>
                </a:solidFill>
                <a:latin typeface="Noto Sans CJK SC"/>
              </a:defRPr>
            </a:pPr>
            <a:r>
              <a:t>• 恢复：触发、重接成功、持续时间、介入比例</a:t>
            </a:r>
          </a:p>
          <a:p>
            <a:pPr>
              <a:spcAft>
                <a:spcPts val="800"/>
              </a:spcAft>
              <a:defRPr sz="1900">
                <a:solidFill>
                  <a:srgbClr val="1B1F23"/>
                </a:solidFill>
                <a:latin typeface="Noto Sans CJK SC"/>
              </a:defRPr>
            </a:pPr>
            <a:r>
              <a:t>• 到达/碰撞/超时：McNemar；连续端点：Wilcoxon + 全局 Holm</a:t>
            </a:r>
          </a:p>
          <a:p>
            <a:pPr>
              <a:spcAft>
                <a:spcPts val="800"/>
              </a:spcAft>
              <a:defRPr sz="1900">
                <a:solidFill>
                  <a:srgbClr val="1B1F23"/>
                </a:solidFill>
                <a:latin typeface="Noto Sans CJK SC"/>
              </a:defRPr>
            </a:pPr>
            <a:r>
              <a:t>• 规划失败仅做描述性率与差值，不补做事后显著性检验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6949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356E9F"/>
                </a:solidFill>
                <a:latin typeface="Noto Sans CJK SC"/>
              </a:defRPr>
            </a:pPr>
            <a:r>
              <a:t>锁定 Test 结果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446520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0">
                <a:solidFill>
                  <a:srgbClr val="59636B"/>
                </a:solidFill>
                <a:latin typeface="Noto Sans CJK SC"/>
              </a:defRPr>
            </a:pPr>
            <a:r>
              <a:t>PGRR  |  20/30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B1F23"/>
                </a:solidFill>
                <a:latin typeface="Noto Sans CJK SC"/>
              </a:defRPr>
            </a:pPr>
            <a:r>
              <a:t>主结果：完整终止类别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10972800" cy="27432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50" b="1">
                <a:solidFill>
                  <a:srgbClr val="356E9F"/>
                </a:solidFill>
                <a:latin typeface="Noto Sans CJK SC"/>
              </a:defRPr>
            </a:pPr>
            <a:r>
              <a:t>锁定 test：终止结果按四类完整报告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50">
                <a:solidFill>
                  <a:srgbClr val="1B1F23"/>
                </a:solidFill>
                <a:latin typeface="Noto Sans CJK SC"/>
              </a:defRPr>
            </a:pPr>
            <a:r>
              <a:t>• 配对条件：120；方法 episode：600</a:t>
            </a:r>
          </a:p>
          <a:p>
            <a:pPr>
              <a:spcAft>
                <a:spcPts val="800"/>
              </a:spcAft>
              <a:defRPr sz="1650">
                <a:solidFill>
                  <a:srgbClr val="1B1F23"/>
                </a:solidFill>
                <a:latin typeface="Noto Sans CJK SC"/>
              </a:defRPr>
            </a:pPr>
            <a:r>
              <a:t>• DWB 到达 / 碰撞 / 超时：70.8% / 29.2% / 0.0%</a:t>
            </a:r>
          </a:p>
          <a:p>
            <a:pPr>
              <a:spcAft>
                <a:spcPts val="800"/>
              </a:spcAft>
              <a:defRPr sz="1650">
                <a:solidFill>
                  <a:srgbClr val="1B1F23"/>
                </a:solidFill>
                <a:latin typeface="Noto Sans CJK SC"/>
              </a:defRPr>
            </a:pPr>
            <a:r>
              <a:t>• PGRR 到达 / 碰撞 / 超时：90.8% / 0.0% / 1.7%</a:t>
            </a:r>
          </a:p>
          <a:p>
            <a:pPr>
              <a:spcAft>
                <a:spcPts val="800"/>
              </a:spcAft>
              <a:defRPr sz="1650">
                <a:solidFill>
                  <a:srgbClr val="1B1F23"/>
                </a:solidFill>
                <a:latin typeface="Noto Sans CJK SC"/>
              </a:defRPr>
            </a:pPr>
            <a:r>
              <a:t>• 规划失败（描述性、非预注册推断端点）：DWB 0.0%；PGRR 7.5%；差 +7.5 个百分点</a:t>
            </a:r>
          </a:p>
          <a:p>
            <a:pPr>
              <a:spcAft>
                <a:spcPts val="800"/>
              </a:spcAft>
              <a:defRPr sz="1650">
                <a:solidFill>
                  <a:srgbClr val="1B1F23"/>
                </a:solidFill>
                <a:latin typeface="Noto Sans CJK SC"/>
              </a:defRPr>
            </a:pPr>
            <a:r>
              <a:t>• 基础设施排除：0，未并入算法分母</a:t>
            </a:r>
          </a:p>
        </p:txBody>
      </p:sp>
      <p:pic>
        <p:nvPicPr>
          <p:cNvPr id="6" name="Picture 5" descr="result_outco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2309410"/>
            <a:ext cx="6126480" cy="31078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446520"/>
            <a:ext cx="6949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356E9F"/>
                </a:solidFill>
                <a:latin typeface="Noto Sans CJK SC"/>
              </a:defRPr>
            </a:pPr>
            <a:r>
              <a:t>锁定 Test 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46520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0">
                <a:solidFill>
                  <a:srgbClr val="59636B"/>
                </a:solidFill>
                <a:latin typeface="Noto Sans CJK SC"/>
              </a:defRPr>
            </a:pPr>
            <a:r>
              <a:t>PGRR  |  21/30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B1F23"/>
                </a:solidFill>
                <a:latin typeface="Noto Sans CJK SC"/>
              </a:defRPr>
            </a:pPr>
            <a:r>
              <a:t>密度分层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10972800" cy="27432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50" b="1">
                <a:solidFill>
                  <a:srgbClr val="356E9F"/>
                </a:solidFill>
                <a:latin typeface="Noto Sans CJK SC"/>
              </a:defRPr>
            </a:pPr>
            <a:r>
              <a:t>三档密度全部展示，不做事后子集选择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50">
                <a:solidFill>
                  <a:srgbClr val="1B1F23"/>
                </a:solidFill>
                <a:latin typeface="Noto Sans CJK SC"/>
              </a:defRPr>
            </a:pPr>
            <a:r>
              <a:t>• Low：DWB 72.5%；PGRR 92.5%</a:t>
            </a:r>
          </a:p>
          <a:p>
            <a:pPr>
              <a:spcAft>
                <a:spcPts val="800"/>
              </a:spcAft>
              <a:defRPr sz="1650">
                <a:solidFill>
                  <a:srgbClr val="1B1F23"/>
                </a:solidFill>
                <a:latin typeface="Noto Sans CJK SC"/>
              </a:defRPr>
            </a:pPr>
            <a:r>
              <a:t>• Medium：DWB 72.5%；PGRR 90.0%</a:t>
            </a:r>
          </a:p>
          <a:p>
            <a:pPr>
              <a:spcAft>
                <a:spcPts val="800"/>
              </a:spcAft>
              <a:defRPr sz="1650">
                <a:solidFill>
                  <a:srgbClr val="1B1F23"/>
                </a:solidFill>
                <a:latin typeface="Noto Sans CJK SC"/>
              </a:defRPr>
            </a:pPr>
            <a:r>
              <a:t>• High：DWB 67.5%；PGRR 90.0%</a:t>
            </a:r>
          </a:p>
          <a:p>
            <a:pPr>
              <a:spcAft>
                <a:spcPts val="800"/>
              </a:spcAft>
              <a:defRPr sz="1650">
                <a:solidFill>
                  <a:srgbClr val="1B1F23"/>
                </a:solidFill>
                <a:latin typeface="Noto Sans CJK SC"/>
              </a:defRPr>
            </a:pPr>
            <a:r>
              <a:t>• 柱状图来自同一 approved results.parquet</a:t>
            </a:r>
          </a:p>
          <a:p>
            <a:pPr>
              <a:spcAft>
                <a:spcPts val="800"/>
              </a:spcAft>
              <a:defRPr sz="1650">
                <a:solidFill>
                  <a:srgbClr val="1B1F23"/>
                </a:solidFill>
                <a:latin typeface="Noto Sans CJK SC"/>
              </a:defRPr>
            </a:pPr>
            <a:r>
              <a:t>• 阶段：锁定 test</a:t>
            </a:r>
          </a:p>
        </p:txBody>
      </p:sp>
      <p:pic>
        <p:nvPicPr>
          <p:cNvPr id="6" name="Picture 5" descr="result_d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2309410"/>
            <a:ext cx="6126480" cy="31078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446520"/>
            <a:ext cx="6949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356E9F"/>
                </a:solidFill>
                <a:latin typeface="Noto Sans CJK SC"/>
              </a:defRPr>
            </a:pPr>
            <a:r>
              <a:t>锁定 Test 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46520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0">
                <a:solidFill>
                  <a:srgbClr val="59636B"/>
                </a:solidFill>
                <a:latin typeface="Noto Sans CJK SC"/>
              </a:defRPr>
            </a:pPr>
            <a:r>
              <a:t>PGRR  |  22/30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B1F23"/>
                </a:solidFill>
                <a:latin typeface="Noto Sans CJK SC"/>
              </a:defRPr>
            </a:pPr>
            <a:r>
              <a:t>八类交互族结果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10972800" cy="27432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50" b="1">
                <a:solidFill>
                  <a:srgbClr val="356E9F"/>
                </a:solidFill>
                <a:latin typeface="Noto Sans CJK SC"/>
              </a:defRPr>
            </a:pPr>
            <a:r>
              <a:t>聚合结果必须回到八类交互几何检查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50">
                <a:solidFill>
                  <a:srgbClr val="1B1F23"/>
                </a:solidFill>
                <a:latin typeface="Noto Sans CJK SC"/>
              </a:defRPr>
            </a:pPr>
            <a:r>
              <a:t>• 每个单元显示目标到达率，覆盖全部预声明 family</a:t>
            </a:r>
          </a:p>
          <a:p>
            <a:pPr>
              <a:spcAft>
                <a:spcPts val="800"/>
              </a:spcAft>
              <a:defRPr sz="1650">
                <a:solidFill>
                  <a:srgbClr val="1B1F23"/>
                </a:solidFill>
                <a:latin typeface="Noto Sans CJK SC"/>
              </a:defRPr>
            </a:pPr>
            <a:r>
              <a:t>• 矩阵用于识别收益集中、退化和不可恢复结构</a:t>
            </a:r>
          </a:p>
          <a:p>
            <a:pPr>
              <a:spcAft>
                <a:spcPts val="800"/>
              </a:spcAft>
              <a:defRPr sz="1650">
                <a:solidFill>
                  <a:srgbClr val="1B1F23"/>
                </a:solidFill>
                <a:latin typeface="Noto Sans CJK SC"/>
              </a:defRPr>
            </a:pPr>
            <a:r>
              <a:t>• 场景差异为描述性分析，不自动构成显著性结论</a:t>
            </a:r>
          </a:p>
          <a:p>
            <a:pPr>
              <a:spcAft>
                <a:spcPts val="800"/>
              </a:spcAft>
              <a:defRPr sz="1650">
                <a:solidFill>
                  <a:srgbClr val="1B1F23"/>
                </a:solidFill>
                <a:latin typeface="Noto Sans CJK SC"/>
              </a:defRPr>
            </a:pPr>
            <a:r>
              <a:t>• 阶段：锁定 test</a:t>
            </a:r>
          </a:p>
        </p:txBody>
      </p:sp>
      <p:pic>
        <p:nvPicPr>
          <p:cNvPr id="6" name="Picture 5" descr="result_fami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858063"/>
            <a:ext cx="6126480" cy="401055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446520"/>
            <a:ext cx="6949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356E9F"/>
                </a:solidFill>
                <a:latin typeface="Noto Sans CJK SC"/>
              </a:defRPr>
            </a:pPr>
            <a:r>
              <a:t>锁定 Test 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46520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0">
                <a:solidFill>
                  <a:srgbClr val="59636B"/>
                </a:solidFill>
                <a:latin typeface="Noto Sans CJK SC"/>
              </a:defRPr>
            </a:pPr>
            <a:r>
              <a:t>PGRR  |  23/30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B1F23"/>
                </a:solidFill>
                <a:latin typeface="Noto Sans CJK SC"/>
              </a:defRPr>
            </a:pPr>
            <a:r>
              <a:t>PGRR 对 Baseline 的配对效应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10972800" cy="27432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50" b="1">
                <a:solidFill>
                  <a:srgbClr val="356E9F"/>
                </a:solidFill>
                <a:latin typeface="Noto Sans CJK SC"/>
              </a:defRPr>
            </a:pPr>
            <a:r>
              <a:t>四个 baseline × 三个终止端点均给出配对差、区间、校正 p 与效应量</a:t>
            </a:r>
          </a:p>
        </p:txBody>
      </p:sp>
      <p:pic>
        <p:nvPicPr>
          <p:cNvPr id="5" name="Picture 4" descr="result_paired_effe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606424"/>
            <a:ext cx="10881360" cy="46327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46520"/>
            <a:ext cx="6949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356E9F"/>
                </a:solidFill>
                <a:latin typeface="Noto Sans CJK SC"/>
              </a:defRPr>
            </a:pPr>
            <a:r>
              <a:t>锁定 Test 结果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446520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0">
                <a:solidFill>
                  <a:srgbClr val="59636B"/>
                </a:solidFill>
                <a:latin typeface="Noto Sans CJK SC"/>
              </a:defRPr>
            </a:pPr>
            <a:r>
              <a:t>PGRR  |  24/30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B1F23"/>
                </a:solidFill>
                <a:latin typeface="Noto Sans CJK SC"/>
              </a:defRPr>
            </a:pPr>
            <a:r>
              <a:t>共同成功条件下的配对效率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10972800" cy="27432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50" b="1">
                <a:solidFill>
                  <a:srgbClr val="356E9F"/>
                </a:solidFill>
                <a:latin typeface="Noto Sans CJK SC"/>
              </a:defRPr>
            </a:pPr>
            <a:r>
              <a:t>只在两者都到达的同一 pair 内比较效率，并保留全部失败终局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50">
                <a:solidFill>
                  <a:srgbClr val="1B1F23"/>
                </a:solidFill>
                <a:latin typeface="Noto Sans CJK SC"/>
              </a:defRPr>
            </a:pPr>
            <a:r>
              <a:t>• 共同到达 pair：83；Base 与 PGRR 必须同时 GOAL_REACHED</a:t>
            </a:r>
          </a:p>
          <a:p>
            <a:pPr>
              <a:spcAft>
                <a:spcPts val="800"/>
              </a:spcAft>
              <a:defRPr sz="1650">
                <a:solidFill>
                  <a:srgbClr val="1B1F23"/>
                </a:solidFill>
                <a:latin typeface="Noto Sans CJK SC"/>
              </a:defRPr>
            </a:pPr>
            <a:r>
              <a:t>• 时长差 PGRR-DWB：+15.877 [+11.427, +20.834] s；Holm p=&lt;0.001</a:t>
            </a:r>
          </a:p>
          <a:p>
            <a:pPr>
              <a:spcAft>
                <a:spcPts val="800"/>
              </a:spcAft>
              <a:defRPr sz="1650">
                <a:solidFill>
                  <a:srgbClr val="1B1F23"/>
                </a:solidFill>
                <a:latin typeface="Noto Sans CJK SC"/>
              </a:defRPr>
            </a:pPr>
            <a:r>
              <a:t>• 路径差 PGRR-DWB：+1.886 [+1.205, +2.691] m；Holm p=&lt;0.001</a:t>
            </a:r>
          </a:p>
          <a:p>
            <a:pPr>
              <a:spcAft>
                <a:spcPts val="800"/>
              </a:spcAft>
              <a:defRPr sz="1650">
                <a:solidFill>
                  <a:srgbClr val="1B1F23"/>
                </a:solidFill>
                <a:latin typeface="Noto Sans CJK SC"/>
              </a:defRPr>
            </a:pPr>
            <a:r>
              <a:t>• 条件于 joint success；不能删除或替代碰撞、超时和规划失败</a:t>
            </a:r>
          </a:p>
          <a:p>
            <a:pPr>
              <a:spcAft>
                <a:spcPts val="800"/>
              </a:spcAft>
              <a:defRPr sz="1650">
                <a:solidFill>
                  <a:srgbClr val="1B1F23"/>
                </a:solidFill>
                <a:latin typeface="Noto Sans CJK SC"/>
              </a:defRPr>
            </a:pPr>
            <a:r>
              <a:t>• 阶段：锁定 test</a:t>
            </a:r>
          </a:p>
        </p:txBody>
      </p:sp>
      <p:pic>
        <p:nvPicPr>
          <p:cNvPr id="6" name="Picture 5" descr="result_joint_success_effici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2707778"/>
            <a:ext cx="6126480" cy="23111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446520"/>
            <a:ext cx="6949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356E9F"/>
                </a:solidFill>
                <a:latin typeface="Noto Sans CJK SC"/>
              </a:defRPr>
            </a:pPr>
            <a:r>
              <a:t>锁定 Test 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46520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0">
                <a:solidFill>
                  <a:srgbClr val="59636B"/>
                </a:solidFill>
                <a:latin typeface="Noto Sans CJK SC"/>
              </a:defRPr>
            </a:pPr>
            <a:r>
              <a:t>PGRR  |  25/30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B1F23"/>
                </a:solidFill>
                <a:latin typeface="Noto Sans CJK SC"/>
              </a:defRPr>
            </a:pPr>
            <a:r>
              <a:t>Matched Base--PGRR 真实运行对比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10972800" cy="27432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50" b="1">
                <a:solidFill>
                  <a:srgbClr val="356E9F"/>
                </a:solidFill>
                <a:latin typeface="Noto Sans CJK SC"/>
              </a:defRPr>
            </a:pPr>
            <a:r>
              <a:t>固定 matched pair 公开 Base--PGRR 空间轨迹与真实终局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50">
                <a:solidFill>
                  <a:srgbClr val="1B1F23"/>
                </a:solidFill>
                <a:latin typeface="Noto Sans CJK SC"/>
              </a:defRPr>
            </a:pPr>
            <a:r>
              <a:t>• 选择规则：eligible: PGRR trigger + configured static geometry + actor routes; order: Base failure/PGRR goal, outcome contrast, PGRR goal, density, trigger count, family, seed, pair_id</a:t>
            </a:r>
          </a:p>
          <a:p>
            <a:pPr>
              <a:spcAft>
                <a:spcPts val="800"/>
              </a:spcAft>
              <a:defRPr sz="1650">
                <a:solidFill>
                  <a:srgbClr val="1B1F23"/>
                </a:solidFill>
                <a:latin typeface="Noto Sans CJK SC"/>
              </a:defRPr>
            </a:pPr>
            <a:r>
              <a:t>• DWB 终局：COLLISION；raw SHA 3b2969e6d15e</a:t>
            </a:r>
          </a:p>
          <a:p>
            <a:pPr>
              <a:spcAft>
                <a:spcPts val="800"/>
              </a:spcAft>
              <a:defRPr sz="1650">
                <a:solidFill>
                  <a:srgbClr val="1B1F23"/>
                </a:solidFill>
                <a:latin typeface="Noto Sans CJK SC"/>
              </a:defRPr>
            </a:pPr>
            <a:r>
              <a:t>• PGRR 终局：GOAL_REACHED；raw SHA 7c81c150788a</a:t>
            </a:r>
          </a:p>
          <a:p>
            <a:pPr>
              <a:spcAft>
                <a:spcPts val="800"/>
              </a:spcAft>
              <a:defRPr sz="1650">
                <a:solidFill>
                  <a:srgbClr val="1B1F23"/>
                </a:solidFill>
                <a:latin typeface="Noto Sans CJK SC"/>
              </a:defRPr>
            </a:pPr>
            <a:r>
              <a:t>• pair：blind_corner_high_test_moderate_v6_r00_s87320_seed87320；scenario：blind_corner_high_test_moderate_v6_r00_s87320</a:t>
            </a:r>
          </a:p>
          <a:p>
            <a:pPr>
              <a:spcAft>
                <a:spcPts val="800"/>
              </a:spcAft>
              <a:defRPr sz="1650">
                <a:solidFill>
                  <a:srgbClr val="1B1F23"/>
                </a:solidFill>
                <a:latin typeface="Noto Sans CJK SC"/>
              </a:defRPr>
            </a:pPr>
            <a:r>
              <a:t>• 轨迹是 JSONL/Parquet 遥测重建，不是 camera screenshot</a:t>
            </a:r>
          </a:p>
        </p:txBody>
      </p:sp>
      <p:pic>
        <p:nvPicPr>
          <p:cNvPr id="6" name="Picture 5" descr="result_matched_traje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2130083"/>
            <a:ext cx="6126480" cy="34665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446520"/>
            <a:ext cx="6949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356E9F"/>
                </a:solidFill>
                <a:latin typeface="Noto Sans CJK SC"/>
              </a:defRPr>
            </a:pPr>
            <a:r>
              <a:t>锁定 Test 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46520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0">
                <a:solidFill>
                  <a:srgbClr val="59636B"/>
                </a:solidFill>
                <a:latin typeface="Noto Sans CJK SC"/>
              </a:defRPr>
            </a:pPr>
            <a:r>
              <a:t>PGRR  |  26/30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B1F23"/>
                </a:solidFill>
                <a:latin typeface="Noto Sans CJK SC"/>
              </a:defRPr>
            </a:pPr>
            <a:r>
              <a:t>PGRR 恢复时序（同一 Matched Pair）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10972800" cy="27432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50" b="1">
                <a:solidFill>
                  <a:srgbClr val="356E9F"/>
                </a:solidFill>
                <a:latin typeface="Noto Sans CJK SC"/>
              </a:defRPr>
            </a:pPr>
            <a:r>
              <a:t>恢复触发、状态切换和目标进展来自同一 PGRR raw stream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50">
                <a:solidFill>
                  <a:srgbClr val="1B1F23"/>
                </a:solidFill>
                <a:latin typeface="Noto Sans CJK SC"/>
              </a:defRPr>
            </a:pPr>
            <a:r>
              <a:t>• pair：blind_corner_high_test_moderate_v6_r00_s87320_seed87320；PGRR episode：blind_corner_high_test_moderate_v6_r00_s87320_eval_pgrr_r95ec74c511bb_a0_dwb</a:t>
            </a:r>
          </a:p>
          <a:p>
            <a:pPr>
              <a:spcAft>
                <a:spcPts val="800"/>
              </a:spcAft>
              <a:defRPr sz="1650">
                <a:solidFill>
                  <a:srgbClr val="1B1F23"/>
                </a:solidFill>
                <a:latin typeface="Noto Sans CJK SC"/>
              </a:defRPr>
            </a:pPr>
            <a:r>
              <a:t>• PGRR 终局：GOAL_REACHED；raw SHA 7c81c150788a</a:t>
            </a:r>
          </a:p>
          <a:p>
            <a:pPr>
              <a:spcAft>
                <a:spcPts val="800"/>
              </a:spcAft>
              <a:defRPr sz="1650">
                <a:solidFill>
                  <a:srgbClr val="1B1F23"/>
                </a:solidFill>
                <a:latin typeface="Noto Sans CJK SC"/>
              </a:defRPr>
            </a:pPr>
            <a:r>
              <a:t>• 时间线包含记录的目标距离、failure score、恢复状态与触发事件</a:t>
            </a:r>
          </a:p>
          <a:p>
            <a:pPr>
              <a:spcAft>
                <a:spcPts val="800"/>
              </a:spcAft>
              <a:defRPr sz="1650">
                <a:solidFill>
                  <a:srgbClr val="1B1F23"/>
                </a:solidFill>
                <a:latin typeface="Noto Sans CJK SC"/>
              </a:defRPr>
            </a:pPr>
            <a:r>
              <a:t>• 时间线是 telemetry reconstruction，不是 camera screenshot</a:t>
            </a:r>
          </a:p>
          <a:p>
            <a:pPr>
              <a:spcAft>
                <a:spcPts val="800"/>
              </a:spcAft>
              <a:defRPr sz="1650">
                <a:solidFill>
                  <a:srgbClr val="1B1F23"/>
                </a:solidFill>
                <a:latin typeface="Noto Sans CJK SC"/>
              </a:defRPr>
            </a:pPr>
            <a:r>
              <a:t>• n=1 描述性运行证据；总体结论仍来自完整 outcome 分解</a:t>
            </a:r>
          </a:p>
        </p:txBody>
      </p:sp>
      <p:pic>
        <p:nvPicPr>
          <p:cNvPr id="6" name="Picture 5" descr="result_matched_recovery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702370"/>
            <a:ext cx="6126480" cy="432193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446520"/>
            <a:ext cx="6949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356E9F"/>
                </a:solidFill>
                <a:latin typeface="Noto Sans CJK SC"/>
              </a:defRPr>
            </a:pPr>
            <a:r>
              <a:t>锁定 Test 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46520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0">
                <a:solidFill>
                  <a:srgbClr val="59636B"/>
                </a:solidFill>
                <a:latin typeface="Noto Sans CJK SC"/>
              </a:defRPr>
            </a:pPr>
            <a:r>
              <a:t>PGRR  |  27/30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B1F23"/>
                </a:solidFill>
                <a:latin typeface="Noto Sans CJK SC"/>
              </a:defRPr>
            </a:pPr>
            <a:r>
              <a:t>失败案例与局限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10972800" cy="27432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50" b="1">
                <a:solidFill>
                  <a:srgbClr val="356E9F"/>
                </a:solidFill>
                <a:latin typeface="Noto Sans CJK SC"/>
              </a:defRPr>
            </a:pPr>
            <a:r>
              <a:t>降低碰撞但增加 timeout 仍然是失败转移，必须公开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50">
                <a:solidFill>
                  <a:srgbClr val="1B1F23"/>
                </a:solidFill>
                <a:latin typeface="Noto Sans CJK SC"/>
              </a:defRPr>
            </a:pPr>
            <a:r>
              <a:t>• 重点检查长期 WAIT、持续 BACKUP、左右切换和重复恢复</a:t>
            </a:r>
          </a:p>
          <a:p>
            <a:pPr>
              <a:spcAft>
                <a:spcPts val="800"/>
              </a:spcAft>
              <a:defRPr sz="1650">
                <a:solidFill>
                  <a:srgbClr val="1B1F23"/>
                </a:solidFill>
                <a:latin typeface="Noto Sans CJK SC"/>
              </a:defRPr>
            </a:pPr>
            <a:r>
              <a:t>• 规则触发可能误报或漏报，action mask 可能过于保守</a:t>
            </a:r>
          </a:p>
          <a:p>
            <a:pPr>
              <a:spcAft>
                <a:spcPts val="800"/>
              </a:spcAft>
              <a:defRPr sz="1650">
                <a:solidFill>
                  <a:srgbClr val="1B1F23"/>
                </a:solidFill>
                <a:latin typeface="Noto Sans CJK SC"/>
              </a:defRPr>
            </a:pPr>
            <a:r>
              <a:t>• 二维 LiDAR、已知地图、离散动作和仿真人群限制外推</a:t>
            </a:r>
          </a:p>
          <a:p>
            <a:pPr>
              <a:spcAft>
                <a:spcPts val="800"/>
              </a:spcAft>
              <a:defRPr sz="1650">
                <a:solidFill>
                  <a:srgbClr val="1B1F23"/>
                </a:solidFill>
                <a:latin typeface="Noto Sans CJK SC"/>
              </a:defRPr>
            </a:pPr>
            <a:r>
              <a:t>• 历史 v1 64/64（非 v6）显示碰撞下降伴随 timeout 上升；到达 8/24 vs 5/24 的校正比较不显著</a:t>
            </a:r>
          </a:p>
          <a:p>
            <a:pPr>
              <a:spcAft>
                <a:spcPts val="800"/>
              </a:spcAft>
              <a:defRPr sz="1650">
                <a:solidFill>
                  <a:srgbClr val="1B1F23"/>
                </a:solidFill>
                <a:latin typeface="Noto Sans CJK SC"/>
              </a:defRPr>
            </a:pPr>
            <a:r>
              <a:t>• PPO、学习 detector、第二 planner、Flatland、硬件和形式安全均未完成</a:t>
            </a:r>
          </a:p>
        </p:txBody>
      </p:sp>
      <p:pic>
        <p:nvPicPr>
          <p:cNvPr id="6" name="Picture 5" descr="recovery_state_mach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2041115"/>
            <a:ext cx="6126480" cy="3644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446520"/>
            <a:ext cx="6949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356E9F"/>
                </a:solidFill>
                <a:latin typeface="Noto Sans CJK SC"/>
              </a:defRPr>
            </a:pPr>
            <a:r>
              <a:t>锁定 Test 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46520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0">
                <a:solidFill>
                  <a:srgbClr val="59636B"/>
                </a:solidFill>
                <a:latin typeface="Noto Sans CJK SC"/>
              </a:defRPr>
            </a:pPr>
            <a:r>
              <a:t>PGRR  |  28/30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B1F23"/>
                </a:solidFill>
                <a:latin typeface="Noto Sans CJK SC"/>
              </a:defRPr>
            </a:pPr>
            <a:r>
              <a:t>复现与工程交付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10972800" cy="27432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50" b="1">
                <a:solidFill>
                  <a:srgbClr val="356E9F"/>
                </a:solidFill>
                <a:latin typeface="Noto Sans CJK SC"/>
              </a:defRPr>
            </a:pPr>
            <a:r>
              <a:t>代码、结果、图表、论文和汇报共享同一证据链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19072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B1F23"/>
                </a:solidFill>
                <a:latin typeface="Noto Sans CJK SC"/>
              </a:defRPr>
            </a:pPr>
            <a:r>
              <a:t>• 锁定 episode manifest、run manifest 和 results.parquet</a:t>
            </a:r>
          </a:p>
          <a:p>
            <a:pPr>
              <a:spcAft>
                <a:spcPts val="800"/>
              </a:spcAft>
              <a:defRPr sz="1900">
                <a:solidFill>
                  <a:srgbClr val="1B1F23"/>
                </a:solidFill>
                <a:latin typeface="Noto Sans CJK SC"/>
              </a:defRPr>
            </a:pPr>
            <a:r>
              <a:t>• 保存项目 commit、Arena commit、checkpoint 与场景 SHA256</a:t>
            </a:r>
          </a:p>
          <a:p>
            <a:pPr>
              <a:spcAft>
                <a:spcPts val="800"/>
              </a:spcAft>
              <a:defRPr sz="1900">
                <a:solidFill>
                  <a:srgbClr val="1B1F23"/>
                </a:solidFill>
                <a:latin typeface="Noto Sans CJK SC"/>
              </a:defRPr>
            </a:pPr>
            <a:r>
              <a:t>• 图表和 TeX 表格全部自动生成</a:t>
            </a:r>
          </a:p>
          <a:p>
            <a:pPr>
              <a:spcAft>
                <a:spcPts val="800"/>
              </a:spcAft>
              <a:defRPr sz="1900">
                <a:solidFill>
                  <a:srgbClr val="1B1F23"/>
                </a:solidFill>
                <a:latin typeface="Noto Sans CJK SC"/>
              </a:defRPr>
            </a:pPr>
            <a:r>
              <a:t>• 发布门禁：test 技术报告固定 32 页；PPTX/PDF 固定 30 页</a:t>
            </a:r>
          </a:p>
          <a:p>
            <a:pPr>
              <a:spcAft>
                <a:spcPts val="800"/>
              </a:spcAft>
              <a:defRPr sz="1900">
                <a:solidFill>
                  <a:srgbClr val="1B1F23"/>
                </a:solidFill>
                <a:latin typeface="Noto Sans CJK SC"/>
              </a:defRPr>
            </a:pPr>
            <a:r>
              <a:t>• 发布前执行测试、字体、关系、占位符和隐私审计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6949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356E9F"/>
                </a:solidFill>
                <a:latin typeface="Noto Sans CJK SC"/>
              </a:defRPr>
            </a:pPr>
            <a:r>
              <a:t>锁定 Test 结果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446520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0">
                <a:solidFill>
                  <a:srgbClr val="59636B"/>
                </a:solidFill>
                <a:latin typeface="Noto Sans CJK SC"/>
              </a:defRPr>
            </a:pPr>
            <a:r>
              <a:t>PGRR  |  29/30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B1F23"/>
                </a:solidFill>
                <a:latin typeface="Noto Sans CJK SC"/>
              </a:defRPr>
            </a:pPr>
            <a:r>
              <a:t>结论与 Q&amp;A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10972800" cy="27432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50" b="1">
                <a:solidFill>
                  <a:srgbClr val="356E9F"/>
                </a:solidFill>
                <a:latin typeface="Noto Sans CJK SC"/>
              </a:defRPr>
            </a:pPr>
            <a:r>
              <a:t>PGRR 的核心不是替代经典规划，而是让失败恢复可学习、可约束、可解释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50">
                <a:solidFill>
                  <a:srgbClr val="1B1F23"/>
                </a:solidFill>
                <a:latin typeface="Noto Sans CJK SC"/>
              </a:defRPr>
            </a:pPr>
            <a:r>
              <a:t>• 经典规划器保持常态控制</a:t>
            </a:r>
          </a:p>
          <a:p>
            <a:pPr>
              <a:spcAft>
                <a:spcPts val="800"/>
              </a:spcAft>
              <a:defRPr sz="1650">
                <a:solidFill>
                  <a:srgbClr val="1B1F23"/>
                </a:solidFill>
                <a:latin typeface="Noto Sans CJK SC"/>
              </a:defRPr>
            </a:pPr>
            <a:r>
              <a:t>• 特权规划专家降低人工恢复标注成本</a:t>
            </a:r>
          </a:p>
          <a:p>
            <a:pPr>
              <a:spcAft>
                <a:spcPts val="800"/>
              </a:spcAft>
              <a:defRPr sz="1650">
                <a:solidFill>
                  <a:srgbClr val="1B1F23"/>
                </a:solidFill>
                <a:latin typeface="Noto Sans CJK SC"/>
              </a:defRPr>
            </a:pPr>
            <a:r>
              <a:t>• DAgger 覆盖策略诱导的困难恢复状态</a:t>
            </a:r>
          </a:p>
          <a:p>
            <a:pPr>
              <a:spcAft>
                <a:spcPts val="800"/>
              </a:spcAft>
              <a:defRPr sz="1650">
                <a:solidFill>
                  <a:srgbClr val="1B1F23"/>
                </a:solidFill>
                <a:latin typeface="Noto Sans CJK SC"/>
              </a:defRPr>
            </a:pPr>
            <a:r>
              <a:t>• 规划 mask 与有界状态机限制学习策略作用域</a:t>
            </a:r>
          </a:p>
          <a:p>
            <a:pPr>
              <a:spcAft>
                <a:spcPts val="800"/>
              </a:spcAft>
              <a:defRPr sz="1650">
                <a:solidFill>
                  <a:srgbClr val="1B1F23"/>
                </a:solidFill>
                <a:latin typeface="Noto Sans CJK SC"/>
              </a:defRPr>
            </a:pPr>
            <a:r>
              <a:t>• 当前汇报阶段：锁定 Test 结果</a:t>
            </a:r>
          </a:p>
        </p:txBody>
      </p:sp>
      <p:pic>
        <p:nvPicPr>
          <p:cNvPr id="6" name="Picture 5" descr="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2458410"/>
            <a:ext cx="6126480" cy="280985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446520"/>
            <a:ext cx="6949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356E9F"/>
                </a:solidFill>
                <a:latin typeface="Noto Sans CJK SC"/>
              </a:defRPr>
            </a:pPr>
            <a:r>
              <a:t>锁定 Test 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46520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0">
                <a:solidFill>
                  <a:srgbClr val="59636B"/>
                </a:solidFill>
                <a:latin typeface="Noto Sans CJK SC"/>
              </a:defRPr>
            </a:pPr>
            <a:r>
              <a:t>PGRR  |  30/30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PGRR: Planning-Guided Failure-Triggered Recovery and Rejoin for Dynamic Social Navigation</dc:title>
  <dc:subject>stage=test; 30-slide reproducible briefing</dc:subject>
  <dc:creator>Charles Chen</dc:creator>
  <cp:keywords/>
  <dc:description>generated using python-pptx</dc:description>
  <cp:lastModifiedBy>Charles Chen</cp:lastModifiedBy>
  <cp:revision>1</cp:revision>
  <dcterms:created xsi:type="dcterms:W3CDTF">2013-01-27T09:14:16Z</dcterms:created>
  <dcterms:modified xsi:type="dcterms:W3CDTF">2013-01-27T09:15:58Z</dcterms:modified>
  <cp:category/>
</cp:coreProperties>
</file>